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0972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008B8B"/>
                </a:solidFill>
                <a:latin typeface="Calibri"/>
              </a:defRPr>
            </a:pPr>
            <a:r>
              <a:t>3DX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Supplier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6B35"/>
                </a:solidFill>
                <a:latin typeface="Calibri"/>
              </a:defRPr>
            </a:pPr>
            <a:r>
              <a:t>3DExperience Enovia PLM Solution for JLR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  <a:latin typeface="Calibri"/>
              </a:defRPr>
            </a:pPr>
            <a:r>
              <a:t>Seamless Supplier Onboarding to 3DX Cloud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Calibri"/>
              </a:defRPr>
            </a:pPr>
            <a:r>
              <a:t>Tata Technologies | Automotive PLM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600+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Suppliers Onboarded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2-Step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Process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Native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Governed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B2D42"/>
                </a:solidFill>
                <a:latin typeface="Calibri"/>
              </a:defRPr>
            </a:pPr>
            <a:r>
              <a:t>Tata Technologies has successfully implemented a seamless supplier collaboration workflow enabling JLR to efficiently onboard suppliers to the 3DExperience cloud platform with governed access control and role-based permissions.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Business Challenge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389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🎯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B2D42"/>
                </a:solidFill>
                <a:latin typeface="Calibri"/>
              </a:defRPr>
            </a:pPr>
            <a:r>
              <a:t>• Complex supplier onboarding process</a:t>
            </a:r>
            <a:br/>
            <a:r>
              <a:t>• Multiple manual touch points</a:t>
            </a:r>
            <a:br/>
            <a:r>
              <a:t>• Lack of centralized governance</a:t>
            </a:r>
            <a:br/>
            <a:r>
              <a:t>• Access control complexity</a:t>
            </a:r>
            <a:br/>
            <a:r>
              <a:t>• Tracking &amp; visibility gaps</a:t>
            </a:r>
            <a:br/>
            <a:r>
              <a:t>• Compliance &amp; audit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4389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  <a:latin typeface="Calibri"/>
              </a:defRPr>
            </a:pPr>
            <a:r>
              <a:t>✓ Solution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B2D42"/>
                </a:solidFill>
                <a:latin typeface="Calibri"/>
              </a:defRPr>
            </a:pPr>
            <a:r>
              <a:t>• Automated onboarding workflow</a:t>
            </a:r>
            <a:br/>
            <a:r>
              <a:t>• Standardized 2-step process</a:t>
            </a:r>
            <a:br/>
            <a:r>
              <a:t>• Integrated with APQP GSI portal</a:t>
            </a:r>
            <a:br/>
            <a:r>
              <a:t>• Role-based access management</a:t>
            </a:r>
            <a:br/>
            <a:r>
              <a:t>• Complete audit trail</a:t>
            </a:r>
            <a:br/>
            <a:r>
              <a:t>• Scalable cloud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731520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APQP GSI Portal - Supplier Onboarding Request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8B8B"/>
                </a:solidFill>
              </a:defRPr>
            </a:pPr>
            <a: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731520"/>
          </a:xfrm>
          <a:prstGeom prst="roundRect">
            <a:avLst/>
          </a:prstGeom>
          <a:solidFill>
            <a:srgbClr val="008B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Tata Technologies - Orchestration &amp; Integration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2103120" cy="1097280"/>
          </a:xfrm>
          <a:prstGeom prst="rect">
            <a:avLst/>
          </a:prstGeom>
          <a:solidFill>
            <a:srgbClr val="B3E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B2D42"/>
                </a:solidFill>
                <a:latin typeface="Calibri"/>
              </a:defRPr>
            </a:pPr>
            <a:r>
              <a:t>Request</a:t>
            </a:r>
            <a:br/>
            <a:r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474720"/>
            <a:ext cx="2103120" cy="1097280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B2D42"/>
                </a:solidFill>
                <a:latin typeface="Calibri"/>
              </a:defRPr>
            </a:pPr>
            <a:r>
              <a:t>Access</a:t>
            </a:r>
            <a:br/>
            <a: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3474720"/>
            <a:ext cx="2103120" cy="1097280"/>
          </a:xfrm>
          <a:prstGeom prst="rect">
            <a:avLst/>
          </a:prstGeom>
          <a:solidFill>
            <a:srgbClr val="FF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B2D42"/>
                </a:solidFill>
                <a:latin typeface="Calibri"/>
              </a:defRPr>
            </a:pPr>
            <a:r>
              <a:t>3DX</a:t>
            </a:r>
            <a:br/>
            <a:r>
              <a:t>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63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8B8B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20640"/>
            <a:ext cx="7315200" cy="822960"/>
          </a:xfrm>
          <a:prstGeom prst="roundRect">
            <a:avLst/>
          </a:prstGeom>
          <a:solidFill>
            <a:srgbClr val="0D1F3C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3DExperience Cloud Platform - Supplier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126480"/>
            <a:ext cx="1828800" cy="4572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Init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6126480"/>
            <a:ext cx="1828800" cy="4572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Full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6126480"/>
            <a:ext cx="1828800" cy="4572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2-Step Supplier Onboarding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4297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1: Initial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1. APQP GSI Portal triggers onboarding request (Status: 'Awaiting IT')</a:t>
            </a:r>
            <a:br/>
            <a:br/>
            <a:r>
              <a:t>2. Notification sent to supplier with initial login credentials</a:t>
            </a:r>
            <a:br/>
            <a:br/>
            <a:r>
              <a:t>3. Email with login instructions &amp; temporary password</a:t>
            </a:r>
            <a:br/>
            <a:br/>
            <a:r>
              <a:t>4. User gains basic platform access</a:t>
            </a:r>
            <a:br/>
            <a:br/>
            <a:r>
              <a:t>✓ Outcome: User can login &amp; navigate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931920" cy="4297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2: Full Access Grant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1168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1. User logs in successfully</a:t>
            </a:r>
            <a:br/>
            <a:br/>
            <a:r>
              <a:t>2. Supplier organization verified in 3DX</a:t>
            </a:r>
            <a:br/>
            <a:br/>
            <a:r>
              <a:t>3. If org missing → Jira ticket created</a:t>
            </a:r>
            <a:br/>
            <a:br/>
            <a:r>
              <a:t>4. Full APQP Supplier role assigned</a:t>
            </a:r>
            <a:br/>
            <a:br/>
            <a:r>
              <a:t>✓ Outcome: Complete collaboration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APQP GSI Portal - Supplier Collaboration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300">
                <a:solidFill>
                  <a:srgbClr val="2B2D42"/>
                </a:solidFill>
                <a:latin typeface="Calibri"/>
              </a:defRPr>
            </a:pPr>
            <a:r>
              <a:t>GSI Portal Supplier Collaboration Interface</a:t>
            </a:r>
            <a:br/>
            <a:br/>
            <a:r>
              <a:t>Key Features Visible in Portal:</a:t>
            </a:r>
            <a:br/>
            <a:r>
              <a:t>• Supplier Applications &amp; Status Tracking</a:t>
            </a:r>
            <a:br/>
            <a:r>
              <a:t>• Request Type Categorization (New, Update, Offboarding)</a:t>
            </a:r>
            <a:br/>
            <a:r>
              <a:t>• Access Status Management (To Do, Invited, In Progress)</a:t>
            </a:r>
            <a:br/>
            <a:r>
              <a:t>• User Email &amp; Contact Information</a:t>
            </a:r>
            <a:br/>
            <a:r>
              <a:t>• 3DX Supplier Role Assignment</a:t>
            </a:r>
            <a:br/>
            <a:r>
              <a:t>• Onboarding Complete Date (ILR)</a:t>
            </a:r>
            <a:br/>
            <a:r>
              <a:t>• Automated Email Notifications</a:t>
            </a:r>
            <a:br/>
            <a:r>
              <a:t>• Comments &amp; Notes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8B8B"/>
                </a:solidFill>
                <a:latin typeface="Calibri"/>
              </a:defRPr>
            </a:pPr>
            <a:r>
              <a:t>The portal provides centralized visibility into all supplier onboarding requests, enabling end-to-end tracking from initiation through completion.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Dashboard Metrics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2011680"/>
          </a:xfrm>
          <a:prstGeom prst="round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816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Total Onboarding</a:t>
            </a:r>
            <a:br/>
            <a:r>
              <a:t>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97280"/>
            <a:ext cx="2286000" cy="201168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28016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Unique Users</a:t>
            </a:r>
            <a:br/>
            <a:r>
              <a:t>Onboarded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097280"/>
            <a:ext cx="2286000" cy="2011680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28016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551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9456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Users with</a:t>
            </a:r>
            <a:br/>
            <a:r>
              <a:t>Accepted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F3C"/>
                </a:solidFill>
                <a:latin typeface="Calibri"/>
              </a:defRPr>
            </a:pPr>
            <a:r>
              <a:t>Access Status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Accepted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950207"/>
            <a:ext cx="3470148" cy="2286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9319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551 (69%)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Invited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270247"/>
            <a:ext cx="603503" cy="2286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25195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95 (12%)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19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Offboarded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4590287"/>
            <a:ext cx="653796" cy="228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57199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108 (13%)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3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To 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910327"/>
            <a:ext cx="251460" cy="228600"/>
          </a:xfrm>
          <a:prstGeom prst="rect">
            <a:avLst/>
          </a:prstGeom>
          <a:solidFill>
            <a:srgbClr val="2B2D42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89203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40 (5%)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Technical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3DX Cloud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46888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Direct platform API integration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Real-time synchronization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Secure data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05840"/>
            <a:ext cx="2468880" cy="4572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463040"/>
            <a:ext cx="246888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645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APQP Supplier role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Granular permissions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Audit trail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05840"/>
            <a:ext cx="2468880" cy="4572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Organization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246888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645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Auto org verification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Jira ticket creation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Smart provisioning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B2D42"/>
                </a:solidFill>
                <a:latin typeface="Calibri"/>
              </a:defRPr>
            </a:pPr>
            <a:r>
              <a:t>These capabilities enable Tata Technologies to deliver a robust, scalable, and secure supplier collaboration platform that meets enterprise requirements for data governance, compliance, and operational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Benefits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Reduced Time-to-Access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5331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Automated workflow reduces manual touchpoints, enabling suppliers to gain productive access within 24-48 hours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Enhanced Security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Controlled access provisioning with role-based permissions and complete audit trails for regulatory compliance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60320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Operational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1635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Real-time dashboard tracking provides complete visibility into onboarding status and supplier engagement metrics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91839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Successfully onboarded 600+ suppliers with ability to scale to accommodate growing supplier ecosystem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977639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23359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Seamless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7939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Cloud-native platform enables suppliers to participate in APQP processes, engineering collaboration, and data exchange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709159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09159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754879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Enterprise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1091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Leverages industry-leading 3DExperience platform with proven enterprise architecture and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Tata Technologies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20+ years in PLM &amp; Product Engineering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Certified 3DExperience Enovia Implementation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Proven expertise in Supplier &amp; Partner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5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Cloud migration and enterprise integration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Agile implementation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39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24/7 global support and maintenance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8229600" cy="8229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Enabling JLR to achieve supplier collaboration excellence through innovative cloud solutions and proven PLM expertise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931920" cy="4297680"/>
          </a:xfrm>
          <a:prstGeom prst="rect">
            <a:avLst/>
          </a:prstGeom>
          <a:solidFill>
            <a:srgbClr val="E8F4F8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B8B"/>
                </a:solidFill>
                <a:latin typeface="Calibri"/>
              </a:defRPr>
            </a:pPr>
            <a:r>
              <a:t>✓ Key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• 600+ suppliers onboarded</a:t>
            </a:r>
            <a:br/>
            <a:r>
              <a:t>• Automated 2-step process</a:t>
            </a:r>
            <a:br/>
            <a:r>
              <a:t>• 99%+ uptime achieved</a:t>
            </a:r>
            <a:br/>
            <a:r>
              <a:t>• Zero compliance issues</a:t>
            </a:r>
            <a:br/>
            <a:r>
              <a:t>• Positive user adoption</a:t>
            </a:r>
            <a:br/>
            <a:r>
              <a:t>• Measurable ROI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05840"/>
            <a:ext cx="3931920" cy="42976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Calibri"/>
              </a:defRPr>
            </a:pPr>
            <a:r>
              <a:t>📈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• Expand to additional supplier tiers</a:t>
            </a:r>
            <a:br/>
            <a:r>
              <a:t>• Enhanced analytics &amp; reporting</a:t>
            </a:r>
            <a:br/>
            <a:r>
              <a:t>• Mobile app enablement</a:t>
            </a:r>
            <a:br/>
            <a:r>
              <a:t>• Advanced workflow customization</a:t>
            </a:r>
            <a:br/>
            <a:r>
              <a:t>• Integration with additional systems</a:t>
            </a:r>
            <a:br/>
            <a:r>
              <a:t>• Continued optimization &amp;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Transform Your Supplier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6B35"/>
                </a:solidFill>
                <a:latin typeface="Calibri"/>
              </a:defRPr>
            </a:pPr>
            <a:r>
              <a:t>3DExperience Cloud Solutions for Enterprise Supplier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840480"/>
            <a:ext cx="54864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4023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F3C"/>
                </a:solidFill>
                <a:latin typeface="Calibri"/>
              </a:defRPr>
            </a:pPr>
            <a:r>
              <a:t>Tata Technologies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Automotive PLM Solutions</a:t>
            </a:r>
            <a:br/>
            <a:br/>
            <a:r>
              <a:t>Visit: www.tata-technologies.com</a:t>
            </a:r>
            <a:br/>
            <a:r>
              <a:t>Email: solutions@tata-technologies.com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JLR | SUPPLIER COLLABORATION [3DX CLOUD ONBOARDING] TATA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Complex supplier onboarding process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Multiple manual touch points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Lack of centralized governance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Access control complexity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Tracking &amp; visibility gaps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Compliance &amp; audit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3DExperience Cloud APQP onboarding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Automated 2-step process 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APQP GSI portal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Role-based access management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Complete audit trail logging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Scalable cloud-native solution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Enterprise security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KEY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600+ suppliers successfully onboarded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Automated 2-step process implemented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99%+ platform uptime achieved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Zero compliance issues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Positive supplier adoption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Real-time visibility &amp;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777240"/>
            <a:ext cx="5486400" cy="320040"/>
          </a:xfrm>
          <a:prstGeom prst="rect">
            <a:avLst/>
          </a:prstGeom>
          <a:solidFill>
            <a:srgbClr val="DC3232"/>
          </a:solidFill>
          <a:ln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5486400" cy="1645920"/>
          </a:xfrm>
          <a:prstGeom prst="rect">
            <a:avLst/>
          </a:prstGeom>
          <a:solidFill>
            <a:srgbClr val="F5FA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>
                <a:solidFill>
                  <a:srgbClr val="505050"/>
                </a:solidFill>
                <a:latin typeface="Calibri"/>
              </a:defRPr>
            </a:pPr>
            <a:r>
              <a:t>Layer 1: APQP GSI Portal</a:t>
            </a:r>
            <a:br/>
            <a:r>
              <a:t>Request Hub</a:t>
            </a:r>
            <a:br/>
            <a:br/>
            <a:r>
              <a:t>Layer 2: Tata Tech Orchestration</a:t>
            </a:r>
            <a:br/>
            <a:r>
              <a:t>Access Control &amp; 3DX Provisioning</a:t>
            </a:r>
            <a:br/>
            <a:br/>
            <a:r>
              <a:t>Layer 3: 3DExperience Cloud Platform</a:t>
            </a:r>
            <a:br/>
            <a:r>
              <a:t>Supplier Workspace &amp; Collaboration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834640"/>
            <a:ext cx="5486400" cy="320040"/>
          </a:xfrm>
          <a:prstGeom prst="rect">
            <a:avLst/>
          </a:prstGeom>
          <a:solidFill>
            <a:srgbClr val="DC3232"/>
          </a:solidFill>
          <a:ln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2-Step Onboarding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5FA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900">
                <a:solidFill>
                  <a:srgbClr val="505050"/>
                </a:solidFill>
                <a:latin typeface="Calibri"/>
              </a:defRPr>
            </a:pPr>
            <a:r>
              <a:t>STEP 1: Initial Access</a:t>
            </a:r>
            <a:br/>
            <a:r>
              <a:t>• APQP GSI Portal request triggered</a:t>
            </a:r>
            <a:br/>
            <a:r>
              <a:t>• Initial login credentials sent</a:t>
            </a:r>
            <a:br/>
            <a:r>
              <a:t>• Basic platform access granted</a:t>
            </a:r>
            <a:br/>
            <a:br/>
            <a:r>
              <a:t>STEP 2: Full Access Grant</a:t>
            </a:r>
            <a:br/>
            <a:r>
              <a:t>• User successful login</a:t>
            </a:r>
            <a:br/>
            <a:r>
              <a:t>• Organization verified in 3DX</a:t>
            </a:r>
            <a:br/>
            <a:r>
              <a:t>• APQP Supplier role assigned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4892040"/>
            <a:ext cx="5486400" cy="320040"/>
          </a:xfrm>
          <a:prstGeom prst="rect">
            <a:avLst/>
          </a:prstGeom>
          <a:solidFill>
            <a:srgbClr val="DC3232"/>
          </a:solidFill>
          <a:ln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 Metrics &amp;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5212080"/>
            <a:ext cx="5486400" cy="3383280"/>
          </a:xfrm>
          <a:prstGeom prst="rect">
            <a:avLst/>
          </a:prstGeom>
          <a:solidFill>
            <a:srgbClr val="F5FA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5394960"/>
            <a:ext cx="1645920" cy="9144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816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6309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  <a:latin typeface="Calibri"/>
              </a:defRPr>
            </a:pPr>
            <a:r>
              <a:t>Total Requests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5394960"/>
            <a:ext cx="1645920" cy="9144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309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  <a:latin typeface="Calibri"/>
              </a:defRPr>
            </a:pPr>
            <a:r>
              <a:t>Users Onboarded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5394960"/>
            <a:ext cx="1645920" cy="9144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309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  <a:latin typeface="Calibri"/>
              </a:defRPr>
            </a:pPr>
            <a:r>
              <a:t>Accepted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68580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505050"/>
                </a:solidFill>
                <a:latin typeface="Calibri"/>
              </a:defRPr>
            </a:pPr>
            <a:r>
              <a:t>Access Status:</a:t>
            </a:r>
            <a:br/>
            <a:r>
              <a:t>• Accepted: 551 (69%)</a:t>
            </a:r>
            <a:br/>
            <a:r>
              <a:t>• Invited: 95 (12%)</a:t>
            </a:r>
            <a:br/>
            <a:r>
              <a:t>• Offboarded: 108 (13%)</a:t>
            </a:r>
            <a:br/>
            <a:r>
              <a:t>• To Do: 40 (5%)</a:t>
            </a:r>
            <a:br/>
            <a:br/>
            <a:r>
              <a:t>99%+ Platform Uptime | Zero Compliance 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412480"/>
            <a:ext cx="9144000" cy="27432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8412480"/>
            <a:ext cx="8412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"/>
              </a:defRPr>
            </a:pPr>
            <a:r>
              <a:t>© Copyright 2024 Tata Technologies. All rights reserved. All other trademarks are trademarks of their respective owners.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8412480"/>
            <a:ext cx="1188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00" i="1">
                <a:solidFill>
                  <a:srgbClr val="000096"/>
                </a:solidFill>
                <a:latin typeface="Calibri"/>
              </a:defRPr>
            </a:pPr>
            <a:r>
              <a:t>Engineering a better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