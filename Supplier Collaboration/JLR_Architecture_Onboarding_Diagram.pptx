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Architecture &amp; Onboarding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6B35"/>
                </a:solidFill>
                <a:latin typeface="Calibri"/>
              </a:defRPr>
            </a:pPr>
            <a:r>
              <a:t>JLR Supplier Collaboration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F3C"/>
                </a:solidFill>
                <a:latin typeface="Calibri"/>
              </a:defRPr>
            </a:pPr>
            <a:r>
              <a:t>JLR Supplier Collaboration - Complete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05050"/>
                </a:solidFill>
                <a:latin typeface="Calibri"/>
              </a:defRPr>
            </a:pPr>
            <a:r>
              <a:t>3DExperience Cloud Platform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8412480" cy="914400"/>
          </a:xfrm>
          <a:prstGeom prst="roundRect">
            <a:avLst/>
          </a:prstGeom>
          <a:solidFill>
            <a:srgbClr val="C8DCF0"/>
          </a:solidFill>
          <a:ln w="2540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2801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3DSpace</a:t>
            </a:r>
            <a:br/>
            <a:r>
              <a:t>(Data &amp; Content)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051560"/>
            <a:ext cx="12801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3DCloudShare</a:t>
            </a:r>
            <a:br/>
            <a:r>
              <a:t>(Sharing)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83080" y="1348740"/>
            <a:ext cx="91440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91840" y="1051560"/>
            <a:ext cx="12801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3DLive</a:t>
            </a:r>
            <a:br/>
            <a:r>
              <a:t>(Collaboration)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1348740"/>
            <a:ext cx="91440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63440" y="1051560"/>
            <a:ext cx="12801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File Collaboration</a:t>
            </a:r>
            <a:br/>
            <a:r>
              <a:t>Services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26279" y="1348740"/>
            <a:ext cx="91441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35040" y="1051560"/>
            <a:ext cx="12801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3DSupport</a:t>
            </a:r>
            <a:br/>
            <a:r>
              <a:t>(Tracking)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97879" y="1348740"/>
            <a:ext cx="91441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06640" y="1051560"/>
            <a:ext cx="12801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Various 3DX Apps</a:t>
            </a:r>
            <a:br/>
            <a:r>
              <a:t>(Tools)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69479" y="1348740"/>
            <a:ext cx="91440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4320" y="1965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05050"/>
                </a:solidFill>
                <a:latin typeface="Calibri"/>
              </a:defRPr>
            </a:pPr>
            <a:r>
              <a:t>Tata Technologies - Orchestration &amp; Integration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194560"/>
            <a:ext cx="8412480" cy="731520"/>
          </a:xfrm>
          <a:prstGeom prst="roundRect">
            <a:avLst/>
          </a:prstGeom>
          <a:solidFill>
            <a:srgbClr val="C8F0F0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2286000"/>
            <a:ext cx="15087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GSI Portal</a:t>
            </a:r>
            <a:br/>
            <a:r>
              <a:t>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80" y="2286000"/>
            <a:ext cx="15087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Request</a:t>
            </a:r>
            <a:br/>
            <a:r>
              <a:t>Processing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2286000"/>
            <a:ext cx="15087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Access</a:t>
            </a:r>
            <a:br/>
            <a:r>
              <a:t>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2286000"/>
            <a:ext cx="15087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3DX User</a:t>
            </a:r>
            <a:br/>
            <a:r>
              <a:t>Provisioning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286000"/>
            <a:ext cx="15087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Organization</a:t>
            </a:r>
            <a:br/>
            <a:r>
              <a:t>Management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0" y="1828800"/>
            <a:ext cx="0" cy="365760"/>
          </a:xfrm>
          <a:prstGeom prst="line">
            <a:avLst/>
          </a:prstGeom>
          <a:ln w="3175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97680" y="1965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05050"/>
                </a:solidFill>
                <a:latin typeface="Calibri"/>
              </a:defRPr>
            </a:pPr>
            <a:r>
              <a:t>Requests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063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05050"/>
                </a:solidFill>
                <a:latin typeface="Calibri"/>
              </a:defRPr>
            </a:pPr>
            <a:r>
              <a:t>APQP GSI Portal - Supplier Request Hub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291840"/>
            <a:ext cx="8412480" cy="685800"/>
          </a:xfrm>
          <a:prstGeom prst="roundRect">
            <a:avLst/>
          </a:prstGeom>
          <a:solidFill>
            <a:srgbClr val="FFDCB4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>
                <a:solidFill>
                  <a:srgbClr val="505050"/>
                </a:solidFill>
                <a:latin typeface="Calibri"/>
              </a:defRPr>
            </a:pPr>
            <a:r>
              <a:t>Supplier Onboarding Requests | Status Tracking | User Management | Email Notifications | Audit Trail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0" y="2788920"/>
            <a:ext cx="0" cy="502920"/>
          </a:xfrm>
          <a:prstGeom prst="line">
            <a:avLst/>
          </a:prstGeom>
          <a:ln w="3175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4320" y="4114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05050"/>
                </a:solidFill>
                <a:latin typeface="Calibri"/>
              </a:defRPr>
            </a:pPr>
            <a:r>
              <a:t>2-Step Supplier Onboarding Process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434840"/>
            <a:ext cx="4114800" cy="1371600"/>
          </a:xfrm>
          <a:prstGeom prst="roundRect">
            <a:avLst/>
          </a:prstGeom>
          <a:solidFill>
            <a:srgbClr val="C8DCF0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STEP 1: Initial Access</a:t>
            </a:r>
            <a:br/>
            <a:br/>
            <a:r>
              <a:t>1. Portal Status: Awaiting IT</a:t>
            </a:r>
            <a:br/>
            <a:r>
              <a:t>2. System sends login credentials</a:t>
            </a:r>
            <a:br/>
            <a:r>
              <a:t>3. Email notification to supplier</a:t>
            </a:r>
            <a:br/>
            <a:r>
              <a:t>4. User gains basic platform access</a:t>
            </a:r>
            <a:br/>
            <a:br/>
            <a:r>
              <a:t>Outcome: User can login &amp; navigate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63440" y="5120640"/>
            <a:ext cx="274320" cy="0"/>
          </a:xfrm>
          <a:prstGeom prst="line">
            <a:avLst/>
          </a:prstGeom>
          <a:ln w="381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709160" y="4892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05050"/>
                </a:solidFill>
                <a:latin typeface="Calibri"/>
              </a:defRPr>
            </a:pPr>
            <a:r>
              <a:t>✓ Login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434840"/>
            <a:ext cx="3657600" cy="1371600"/>
          </a:xfrm>
          <a:prstGeom prst="roundRect">
            <a:avLst/>
          </a:prstGeom>
          <a:solidFill>
            <a:srgbClr val="2ECC71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STEP 2: Full Access Grant</a:t>
            </a:r>
            <a:br/>
            <a:br/>
            <a:r>
              <a:t>1. User successfully logs in</a:t>
            </a:r>
            <a:br/>
            <a:r>
              <a:t>2. Organization verified in 3DX</a:t>
            </a:r>
            <a:br/>
            <a:r>
              <a:t>3. If org missing → Jira ticket</a:t>
            </a:r>
            <a:br/>
            <a:r>
              <a:t>4. APQP Supplier role assigned</a:t>
            </a:r>
            <a:br/>
            <a:br/>
            <a:r>
              <a:t>Outcome: Complete collaboration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8978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6B35"/>
                </a:solidFill>
                <a:latin typeface="Calibri"/>
              </a:defRPr>
            </a:pPr>
            <a:r>
              <a:t>Status: In 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897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ECC71"/>
                </a:solidFill>
                <a:latin typeface="Calibri"/>
              </a:defRPr>
            </a:pPr>
            <a:r>
              <a:t>Status: Accepted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F3C"/>
                </a:solidFill>
                <a:latin typeface="Calibri"/>
              </a:defRPr>
            </a:pPr>
            <a:r>
              <a:t>Data Flow &amp; Integration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05050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371600" cy="548640"/>
          </a:xfrm>
          <a:prstGeom prst="roundRect">
            <a:avLst/>
          </a:prstGeom>
          <a:solidFill>
            <a:srgbClr val="C8DCF0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Supplier</a:t>
            </a:r>
            <a:br/>
            <a:r>
              <a:t>Request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371600" cy="548640"/>
          </a:xfrm>
          <a:prstGeom prst="roundRect">
            <a:avLst/>
          </a:prstGeom>
          <a:solidFill>
            <a:srgbClr val="C8DCF0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User</a:t>
            </a:r>
            <a:br/>
            <a:r>
              <a:t>Profile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108960"/>
            <a:ext cx="1371600" cy="548640"/>
          </a:xfrm>
          <a:prstGeom prst="roundRect">
            <a:avLst/>
          </a:prstGeom>
          <a:solidFill>
            <a:srgbClr val="C8DCF0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Organization</a:t>
            </a:r>
            <a:br/>
            <a:r>
              <a:t>Info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371600" cy="548640"/>
          </a:xfrm>
          <a:prstGeom prst="roundRect">
            <a:avLst/>
          </a:prstGeom>
          <a:solidFill>
            <a:srgbClr val="C8DCF0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Access</a:t>
            </a:r>
            <a:br/>
            <a:r>
              <a:t>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731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05050"/>
                </a:solidFill>
                <a:latin typeface="Calibri"/>
              </a:defRPr>
            </a:pPr>
            <a:r>
              <a:t>Processing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097280"/>
            <a:ext cx="914400" cy="548640"/>
          </a:xfrm>
          <a:prstGeom prst="roundRect">
            <a:avLst/>
          </a:prstGeom>
          <a:solidFill>
            <a:srgbClr val="C8F0F0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505050"/>
                </a:solidFill>
                <a:latin typeface="Calibri"/>
              </a:defRPr>
            </a:pPr>
            <a:r>
              <a:t>Request</a:t>
            </a:r>
            <a:br/>
            <a:r>
              <a:t>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097280"/>
            <a:ext cx="914400" cy="548640"/>
          </a:xfrm>
          <a:prstGeom prst="roundRect">
            <a:avLst/>
          </a:prstGeom>
          <a:solidFill>
            <a:srgbClr val="C8F0F0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505050"/>
                </a:solidFill>
                <a:latin typeface="Calibri"/>
              </a:defRPr>
            </a:pPr>
            <a:r>
              <a:t>User</a:t>
            </a:r>
            <a:br/>
            <a:r>
              <a:t>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097280"/>
            <a:ext cx="914400" cy="548640"/>
          </a:xfrm>
          <a:prstGeom prst="roundRect">
            <a:avLst/>
          </a:prstGeom>
          <a:solidFill>
            <a:srgbClr val="C8F0F0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505050"/>
                </a:solidFill>
                <a:latin typeface="Calibri"/>
              </a:defRPr>
            </a:pPr>
            <a:r>
              <a:t>Org</a:t>
            </a:r>
            <a:br/>
            <a:r>
              <a:t>Provisioning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097280"/>
            <a:ext cx="914400" cy="548640"/>
          </a:xfrm>
          <a:prstGeom prst="roundRect">
            <a:avLst/>
          </a:prstGeom>
          <a:solidFill>
            <a:srgbClr val="C8F0F0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505050"/>
                </a:solidFill>
                <a:latin typeface="Calibri"/>
              </a:defRPr>
            </a:pPr>
            <a:r>
              <a:t>Role</a:t>
            </a:r>
            <a:br/>
            <a:r>
              <a:t>Assignment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" y="914400"/>
            <a:ext cx="2057400" cy="45720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240280" y="914400"/>
            <a:ext cx="960120" cy="45720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200400" y="914400"/>
            <a:ext cx="137160" cy="45720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200400" y="914400"/>
            <a:ext cx="1234440" cy="45720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566160" y="1371600"/>
            <a:ext cx="91440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80560" y="1371600"/>
            <a:ext cx="91440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94960" y="1371600"/>
            <a:ext cx="914400" cy="0"/>
          </a:xfrm>
          <a:prstGeom prst="line">
            <a:avLst/>
          </a:prstGeom>
          <a:ln w="254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0" y="731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05050"/>
                </a:solidFill>
                <a:latin typeface="Calibri"/>
              </a:defRPr>
            </a:pPr>
            <a:r>
              <a:t>Outputs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097280"/>
            <a:ext cx="822960" cy="548640"/>
          </a:xfrm>
          <a:prstGeom prst="roundRect">
            <a:avLst/>
          </a:prstGeom>
          <a:solidFill>
            <a:srgbClr val="2ECC71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505050"/>
                </a:solidFill>
                <a:latin typeface="Calibri"/>
              </a:defRPr>
            </a:pPr>
            <a:r>
              <a:t>3DX User</a:t>
            </a:r>
            <a:br/>
            <a:r>
              <a:t>Account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1097280"/>
            <a:ext cx="822960" cy="548640"/>
          </a:xfrm>
          <a:prstGeom prst="roundRect">
            <a:avLst/>
          </a:prstGeom>
          <a:solidFill>
            <a:srgbClr val="2ECC71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505050"/>
                </a:solidFill>
                <a:latin typeface="Calibri"/>
              </a:defRPr>
            </a:pPr>
            <a:r>
              <a:t>Access</a:t>
            </a:r>
            <a:br/>
            <a:r>
              <a:t>Rights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1097280"/>
            <a:ext cx="822960" cy="548640"/>
          </a:xfrm>
          <a:prstGeom prst="roundRect">
            <a:avLst/>
          </a:prstGeom>
          <a:solidFill>
            <a:srgbClr val="2ECC71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505050"/>
                </a:solidFill>
                <a:latin typeface="Calibri"/>
              </a:defRPr>
            </a:pPr>
            <a:r>
              <a:t>Audit</a:t>
            </a:r>
            <a:br/>
            <a:r>
              <a:t>Log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09360" y="1371600"/>
            <a:ext cx="731520" cy="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309360" y="1371600"/>
            <a:ext cx="1645919" cy="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309360" y="1371600"/>
            <a:ext cx="2377440" cy="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4320" y="21031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05050"/>
                </a:solidFill>
                <a:latin typeface="Calibri"/>
              </a:defRPr>
            </a:pPr>
            <a:r>
              <a:t>Detailed Onboarding Flow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560320"/>
            <a:ext cx="1188720" cy="640080"/>
          </a:xfrm>
          <a:prstGeom prst="roundRect">
            <a:avLst/>
          </a:prstGeom>
          <a:solidFill>
            <a:srgbClr val="FFDCB4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505050"/>
                </a:solidFill>
                <a:latin typeface="Calibri"/>
              </a:defRPr>
            </a:pPr>
            <a:r>
              <a:t>APQP Portal</a:t>
            </a:r>
            <a:br/>
            <a:r>
              <a:t>Receives Request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91640" y="2880360"/>
            <a:ext cx="137160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828800" y="2560320"/>
            <a:ext cx="1188720" cy="640080"/>
          </a:xfrm>
          <a:prstGeom prst="roundRect">
            <a:avLst/>
          </a:prstGeom>
          <a:solidFill>
            <a:srgbClr val="FFDCB4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505050"/>
                </a:solidFill>
                <a:latin typeface="Calibri"/>
              </a:defRPr>
            </a:pPr>
            <a:r>
              <a:t>GSI Team</a:t>
            </a:r>
            <a:br/>
            <a:r>
              <a:t>Reviews &amp; Approves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63240" y="2880360"/>
            <a:ext cx="137160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00400" y="2560320"/>
            <a:ext cx="1188720" cy="640080"/>
          </a:xfrm>
          <a:prstGeom prst="roundRect">
            <a:avLst/>
          </a:prstGeom>
          <a:solidFill>
            <a:srgbClr val="FFDCB4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505050"/>
                </a:solidFill>
                <a:latin typeface="Calibri"/>
              </a:defRPr>
            </a:pPr>
            <a:r>
              <a:t>Tata Tech</a:t>
            </a:r>
            <a:br/>
            <a:r>
              <a:t>Processor Triggered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34840" y="2880360"/>
            <a:ext cx="137160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72000" y="2560320"/>
            <a:ext cx="1188720" cy="640080"/>
          </a:xfrm>
          <a:prstGeom prst="roundRect">
            <a:avLst/>
          </a:prstGeom>
          <a:solidFill>
            <a:srgbClr val="C8F0F0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505050"/>
                </a:solidFill>
                <a:latin typeface="Calibri"/>
              </a:defRPr>
            </a:pPr>
            <a:r>
              <a:t>Creates 3DX</a:t>
            </a:r>
            <a:br/>
            <a:r>
              <a:t>User Account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806440" y="2880360"/>
            <a:ext cx="137160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943600" y="2560320"/>
            <a:ext cx="1188720" cy="640080"/>
          </a:xfrm>
          <a:prstGeom prst="roundRect">
            <a:avLst/>
          </a:prstGeom>
          <a:solidFill>
            <a:srgbClr val="C8F0F0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505050"/>
                </a:solidFill>
                <a:latin typeface="Calibri"/>
              </a:defRPr>
            </a:pPr>
            <a:r>
              <a:t>Assigns</a:t>
            </a:r>
            <a:br/>
            <a:r>
              <a:t>APQP Role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178040" y="2880360"/>
            <a:ext cx="137160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315200" y="2560320"/>
            <a:ext cx="1188720" cy="640080"/>
          </a:xfrm>
          <a:prstGeom prst="roundRect">
            <a:avLst/>
          </a:prstGeom>
          <a:solidFill>
            <a:srgbClr val="2ECC71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505050"/>
                </a:solidFill>
                <a:latin typeface="Calibri"/>
              </a:defRPr>
            </a:pPr>
            <a:r>
              <a:t>Sends</a:t>
            </a:r>
            <a:br/>
            <a:r>
              <a:t>Notification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549640" y="2880360"/>
            <a:ext cx="137160" cy="0"/>
          </a:xfrm>
          <a:prstGeom prst="line">
            <a:avLst/>
          </a:prstGeom>
          <a:ln w="2540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686800" y="2560320"/>
            <a:ext cx="1188720" cy="640080"/>
          </a:xfrm>
          <a:prstGeom prst="roundRect">
            <a:avLst/>
          </a:prstGeom>
          <a:solidFill>
            <a:srgbClr val="2ECC71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505050"/>
                </a:solidFill>
                <a:latin typeface="Calibri"/>
              </a:defRPr>
            </a:pPr>
            <a:r>
              <a:t>Supplier</a:t>
            </a:r>
            <a:br/>
            <a:r>
              <a:t>Onboarded 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3840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05050"/>
                </a:solidFill>
                <a:latin typeface="Calibri"/>
              </a:defRPr>
            </a:pPr>
            <a:r>
              <a:t>Processing Metrics &amp; SLA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71600" y="4251960"/>
            <a:ext cx="1645920" cy="731520"/>
          </a:xfrm>
          <a:prstGeom prst="roundRect">
            <a:avLst/>
          </a:prstGeom>
          <a:solidFill>
            <a:srgbClr val="C8DCF0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505050"/>
                </a:solidFill>
                <a:latin typeface="Calibri"/>
              </a:defRPr>
            </a:pPr>
            <a:r>
              <a:t>Average</a:t>
            </a:r>
            <a:br/>
            <a:r>
              <a:t>Processing Time</a:t>
            </a:r>
            <a:br/>
            <a:br/>
            <a:r>
              <a:t>2-4 hours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0" y="4251960"/>
            <a:ext cx="1645920" cy="731520"/>
          </a:xfrm>
          <a:prstGeom prst="roundRect">
            <a:avLst/>
          </a:prstGeom>
          <a:solidFill>
            <a:srgbClr val="C8F0F0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505050"/>
                </a:solidFill>
                <a:latin typeface="Calibri"/>
              </a:defRPr>
            </a:pPr>
            <a:r>
              <a:t>SLA</a:t>
            </a:r>
            <a:br/>
            <a:r>
              <a:t>Compliance</a:t>
            </a:r>
            <a:br/>
            <a:br/>
            <a:r>
              <a:t>99.5%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0" y="4251960"/>
            <a:ext cx="1645920" cy="731520"/>
          </a:xfrm>
          <a:prstGeom prst="roundRect">
            <a:avLst/>
          </a:prstGeom>
          <a:solidFill>
            <a:srgbClr val="2ECC71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505050"/>
                </a:solidFill>
                <a:latin typeface="Calibri"/>
              </a:defRPr>
            </a:pPr>
            <a:r>
              <a:t>Success</a:t>
            </a:r>
            <a:br/>
            <a:r>
              <a:t>Rate</a:t>
            </a:r>
            <a:br/>
            <a:br/>
            <a:r>
              <a:t>99.8%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4251960"/>
            <a:ext cx="1645920" cy="731520"/>
          </a:xfrm>
          <a:prstGeom prst="roundRect">
            <a:avLst/>
          </a:prstGeom>
          <a:solidFill>
            <a:srgbClr val="FFDCB4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505050"/>
                </a:solidFill>
                <a:latin typeface="Calibri"/>
              </a:defRPr>
            </a:pPr>
            <a:r>
              <a:t>Users</a:t>
            </a:r>
            <a:br/>
            <a:r>
              <a:t>Onboarded</a:t>
            </a:r>
            <a:br/>
            <a:br/>
            <a:r>
              <a:t>794+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566928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505050"/>
                </a:solidFill>
                <a:latin typeface="Calibri"/>
              </a:defRPr>
            </a:pPr>
            <a:r>
              <a:t>• All communications are encrypted and secured</a:t>
            </a:r>
            <a:br/>
            <a:r>
              <a:t>• Complete audit trail maintained for compliance</a:t>
            </a:r>
            <a:br/>
            <a:r>
              <a:t>• Automated retry mechanism for failed attempts</a:t>
            </a:r>
            <a:br/>
            <a:r>
              <a:t>• Real-time status updates via email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F3C"/>
                </a:solidFill>
                <a:latin typeface="Calibri"/>
              </a:defRPr>
            </a:pPr>
            <a:r>
              <a:t>User Roles &amp; Access Control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05050"/>
                </a:solidFill>
                <a:latin typeface="Calibri"/>
              </a:defRPr>
            </a:pPr>
            <a:r>
              <a:t>Platform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2011680" cy="1097280"/>
          </a:xfrm>
          <a:prstGeom prst="roundRect">
            <a:avLst/>
          </a:prstGeom>
          <a:solidFill>
            <a:srgbClr val="C8DCF0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Platform</a:t>
            </a:r>
            <a:br/>
            <a:r>
              <a:t>Administrator</a:t>
            </a:r>
            <a:br/>
            <a:br/>
            <a:r>
              <a:t>• System config</a:t>
            </a:r>
            <a:br/>
            <a:r>
              <a:t>• User setup</a:t>
            </a:r>
            <a:br/>
            <a:r>
              <a:t>• Access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731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05050"/>
                </a:solidFill>
                <a:latin typeface="Calibri"/>
              </a:defRPr>
            </a:pPr>
            <a:r>
              <a:t>Request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143000"/>
            <a:ext cx="2011680" cy="1097280"/>
          </a:xfrm>
          <a:prstGeom prst="roundRect">
            <a:avLst/>
          </a:prstGeom>
          <a:solidFill>
            <a:srgbClr val="C8F0F0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GSI Team</a:t>
            </a:r>
            <a:br/>
            <a:r>
              <a:t>(Tata Tech)</a:t>
            </a:r>
            <a:br/>
            <a:br/>
            <a:r>
              <a:t>• Request review</a:t>
            </a:r>
            <a:br/>
            <a:r>
              <a:t>• Org verification</a:t>
            </a:r>
            <a:br/>
            <a:r>
              <a:t>• Access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731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05050"/>
                </a:solidFill>
                <a:latin typeface="Calibri"/>
              </a:defRPr>
            </a:pPr>
            <a:r>
              <a:t>Supplier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143000"/>
            <a:ext cx="2011680" cy="1097280"/>
          </a:xfrm>
          <a:prstGeom prst="roundRect">
            <a:avLst/>
          </a:prstGeom>
          <a:solidFill>
            <a:srgbClr val="2ECC71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APQP Supplier</a:t>
            </a:r>
            <a:br/>
            <a:r>
              <a:t>Role</a:t>
            </a:r>
            <a:br/>
            <a:br/>
            <a:r>
              <a:t>• Collaborate</a:t>
            </a:r>
            <a:br/>
            <a:r>
              <a:t>• Access docs</a:t>
            </a:r>
            <a:br/>
            <a:r>
              <a:t>• Submit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731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05050"/>
                </a:solidFill>
                <a:latin typeface="Calibri"/>
              </a:defRPr>
            </a:pPr>
            <a:r>
              <a:t>Oversight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143000"/>
            <a:ext cx="1371600" cy="1097280"/>
          </a:xfrm>
          <a:prstGeom prst="roundRect">
            <a:avLst/>
          </a:prstGeom>
          <a:solidFill>
            <a:srgbClr val="FFDCB4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Executive</a:t>
            </a:r>
            <a:br/>
            <a:r>
              <a:t>User</a:t>
            </a:r>
            <a:br/>
            <a:br/>
            <a:r>
              <a:t>• Dashboard</a:t>
            </a:r>
            <a:br/>
            <a:r>
              <a:t>• Reports</a:t>
            </a:r>
            <a:br/>
            <a:r>
              <a:t>•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05050"/>
                </a:solidFill>
                <a:latin typeface="Calibri"/>
              </a:defRPr>
            </a:pPr>
            <a:r>
              <a:t>Access Control Levels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926080"/>
            <a:ext cx="1463040" cy="731520"/>
          </a:xfrm>
          <a:prstGeom prst="roundRect">
            <a:avLst/>
          </a:prstGeom>
          <a:solidFill>
            <a:srgbClr val="C8DCF0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Level 1</a:t>
            </a:r>
            <a:br/>
            <a:r>
              <a:t>Basic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39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05050"/>
                </a:solidFill>
                <a:latin typeface="Calibri"/>
              </a:defRPr>
            </a:pPr>
            <a:r>
              <a:t>Login</a:t>
            </a:r>
            <a:br/>
            <a:r>
              <a:t>Navigation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926080"/>
            <a:ext cx="1463040" cy="731520"/>
          </a:xfrm>
          <a:prstGeom prst="roundRect">
            <a:avLst/>
          </a:prstGeom>
          <a:solidFill>
            <a:srgbClr val="C8F0F0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Level 2</a:t>
            </a:r>
            <a:br/>
            <a:r>
              <a:t>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749039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05050"/>
                </a:solidFill>
                <a:latin typeface="Calibri"/>
              </a:defRPr>
            </a:pPr>
            <a:r>
              <a:t>Read/Write</a:t>
            </a:r>
            <a:br/>
            <a:r>
              <a:t>Documents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926080"/>
            <a:ext cx="1463040" cy="731520"/>
          </a:xfrm>
          <a:prstGeom prst="roundRect">
            <a:avLst/>
          </a:prstGeom>
          <a:solidFill>
            <a:srgbClr val="2ECC71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Level 3</a:t>
            </a:r>
            <a:br/>
            <a:r>
              <a:t>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749039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05050"/>
                </a:solidFill>
                <a:latin typeface="Calibri"/>
              </a:defRPr>
            </a:pPr>
            <a:r>
              <a:t>Admin</a:t>
            </a:r>
            <a:br/>
            <a:r>
              <a:t>Controls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2926080"/>
            <a:ext cx="1463040" cy="731520"/>
          </a:xfrm>
          <a:prstGeom prst="roundRect">
            <a:avLst/>
          </a:prstGeom>
          <a:solidFill>
            <a:srgbClr val="FFDCB4"/>
          </a:solidFill>
          <a:ln w="19050">
            <a:solidFill>
              <a:srgbClr val="0D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505050"/>
                </a:solidFill>
                <a:latin typeface="Calibri"/>
              </a:defRPr>
            </a:pPr>
            <a:r>
              <a:t>Level 4</a:t>
            </a:r>
            <a:br/>
            <a:r>
              <a:t>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749039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05050"/>
                </a:solidFill>
                <a:latin typeface="Calibri"/>
              </a:defRPr>
            </a:pPr>
            <a:r>
              <a:t>View</a:t>
            </a:r>
            <a:br/>
            <a:r>
              <a:t>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05050"/>
                </a:solidFill>
                <a:latin typeface="Calibri"/>
              </a:defRPr>
            </a:pPr>
            <a:r>
              <a:t>Security &amp; Compliance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Calibri"/>
              </a:defRPr>
            </a:pPr>
            <a:r>
              <a:t>✓ Role-Based Access Control (RBAC)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Calibri"/>
              </a:defRPr>
            </a:pPr>
            <a:r>
              <a:t>✓ Multi-Factor Authentication (MFA)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Calibri"/>
              </a:defRPr>
            </a:pPr>
            <a:r>
              <a:t>✓ Encrypted Data Transport (HTTPS/TLS)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8463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Calibri"/>
              </a:defRPr>
            </a:pPr>
            <a:r>
              <a:t>✓ Session Management &amp; Timeout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8463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Calibri"/>
              </a:defRPr>
            </a:pPr>
            <a:r>
              <a:t>✓ Audit Logging &amp; Compliance 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8463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Calibri"/>
              </a:defRPr>
            </a:pPr>
            <a:r>
              <a:t>✓ Data Isolation &amp; Segregation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