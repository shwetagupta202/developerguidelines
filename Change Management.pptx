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E403-04A6-D156-1D6E-E7B89144A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F889E-9696-DE7A-C09A-8DB2926B4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69C53-7525-67F1-2090-520BF0CE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DF2F8-A9C7-F04D-CD64-43505713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8C8F6-2399-B279-1CD9-66B349AA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93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4CB0-9703-0AD9-A5A5-F31C5F28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46B0-0E90-8EFB-4CC6-9CA8A298C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CEED7-ADA6-A66F-28D0-8C9DDFA0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8B6EE-DF7B-4ABC-2127-35F89585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EA05-A9D8-45C9-71B9-803F3B27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51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924F-63FC-D615-D146-640B9B1A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07423-914F-5C96-2CF8-67B927EE1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7511-2195-5783-4231-4DF6DE42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C7347-8F70-3073-C97A-9B648203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73D3-5E16-DE64-E8F8-ABF4E4AA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50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1932-487F-B340-34ED-67859761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664B-551A-F6CE-D85D-F79AEF7FB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FFC44-3501-07E7-1573-E3654BFD5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0E58B-C4D9-30C1-CD7B-662EBA2D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56B4E-2243-0884-6923-5BDD1DA7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BE4CC-E484-AD7C-3200-E48A591D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41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F817-1D40-4380-ED15-8C2127A2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78AE3-4FD2-0360-7155-B70F97E57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401FE-A7B9-47B9-3353-52297C397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3F789-3661-87E1-F2D5-2E3DCAB1E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CFCC-0462-C8AE-90DD-FA3A80012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21DAA-5E10-396A-29AB-AE08B6B4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90446-FE80-CD5B-A4BA-E2E43594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65FE0-3E43-978B-A770-D372E156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4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51C7-ED54-3339-ECCF-7A7C3CDC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8F3DBC-E5A0-E8C5-368E-C3EE4022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E100A-9DA8-66CD-E162-2B451C9F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4287-196E-F862-D46A-FFDAC3D7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98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D8A01-5F4C-BBBD-69E1-43092A09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4FA87-039D-1571-1749-AACE6589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DFA3-DC6B-8073-9AE8-C646B037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8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CD61-490A-1848-9A0F-2524B50F1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0C883-7C3A-2B2A-5580-78579ABF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51F5F-6960-0AAB-4D01-99D7CED47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6FE2A-A80F-F9B3-03BF-D6D2CC25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6498B-9CF6-8D23-93D2-036089B7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242A1-E88F-BEDB-29E8-5FE49852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7F38-6E4D-9F48-1A66-F0254146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21B9B-47A6-A4B1-F4AD-7C7338701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BAF68-C5BF-0E3C-D6A6-6CDDABB4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32A70-56EC-DCC3-B435-C51D6241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A8308-048D-2814-3CE9-1CDBF0D7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1BCBC-23C5-3561-65BB-2B298171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34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E186-36B5-CA79-C8A6-1F217241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94CA3-C126-B741-2560-AB0F21823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E3FA-A6C3-3F90-FE8B-3E60BB72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C4DC-1751-634A-AA4A-9A6B723F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DEF97-20EB-7F89-5A58-8596889B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18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DADF7-ED3E-71AB-F934-42530FA3D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E1FFB-D288-2B81-65BA-FED602A74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EFAE9-E107-E17B-56B4-98005472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01659-2098-A846-F08B-F5B0C781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9BE77-379D-D12E-78A2-2CC2A0CA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57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FA195-0679-16B6-534A-1FD23AF8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A9CC6-0841-A960-CF16-E7CF3D12E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9B41E-59F7-898F-A61C-7E00C3EAF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E4E40-21AB-4B3A-A3F1-05A31C23486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97F4D-5FB9-6178-201E-3A79A978C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2690-2863-E050-4FCE-CDBC199CF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62F18-236D-40AD-A38F-96C8FC67BE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5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2419-C205-CC80-1EAD-5F59C0208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5181A-28FC-B0FB-757B-F3E2BAED1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B87F6A-A387-E04A-974D-7ED6C76728AF}"/>
              </a:ext>
            </a:extLst>
          </p:cNvPr>
          <p:cNvSpPr txBox="1">
            <a:spLocks/>
          </p:cNvSpPr>
          <p:nvPr/>
        </p:nvSpPr>
        <p:spPr>
          <a:xfrm>
            <a:off x="180" y="586342"/>
            <a:ext cx="12172590" cy="4185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Strategic Vision: Unified Change Management Ecosystem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B29C6-C41A-B1E8-F6BF-C034D4AC1246}"/>
              </a:ext>
            </a:extLst>
          </p:cNvPr>
          <p:cNvSpPr/>
          <p:nvPr/>
        </p:nvSpPr>
        <p:spPr>
          <a:xfrm>
            <a:off x="521213" y="1092695"/>
            <a:ext cx="2980583" cy="52728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CAB55-698F-9675-4702-E708A6006E96}"/>
              </a:ext>
            </a:extLst>
          </p:cNvPr>
          <p:cNvSpPr/>
          <p:nvPr/>
        </p:nvSpPr>
        <p:spPr>
          <a:xfrm>
            <a:off x="714628" y="3243741"/>
            <a:ext cx="1217064" cy="6756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Engineering &amp; Manufacturing</a:t>
            </a:r>
            <a:endParaRPr lang="en-GB" sz="900" b="1" dirty="0">
              <a:solidFill>
                <a:srgbClr val="27536B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222B48-7EAB-641D-B7D3-AFA052B6FB01}"/>
              </a:ext>
            </a:extLst>
          </p:cNvPr>
          <p:cNvGrpSpPr/>
          <p:nvPr/>
        </p:nvGrpSpPr>
        <p:grpSpPr>
          <a:xfrm>
            <a:off x="791827" y="3515888"/>
            <a:ext cx="1100734" cy="327729"/>
            <a:chOff x="880997" y="5510292"/>
            <a:chExt cx="842196" cy="2518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852E6C-0AC4-AACE-9F38-EA9CF0430255}"/>
                </a:ext>
              </a:extLst>
            </p:cNvPr>
            <p:cNvSpPr/>
            <p:nvPr/>
          </p:nvSpPr>
          <p:spPr>
            <a:xfrm>
              <a:off x="904367" y="5514110"/>
              <a:ext cx="818826" cy="2480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1"/>
                </a:solidFill>
              </a:endParaRPr>
            </a:p>
          </p:txBody>
        </p:sp>
        <p:pic>
          <p:nvPicPr>
            <p:cNvPr id="9" name="Picture 8" descr="A blue and black logo&#10;&#10;Description automatically generated">
              <a:extLst>
                <a:ext uri="{FF2B5EF4-FFF2-40B4-BE49-F238E27FC236}">
                  <a16:creationId xmlns:a16="http://schemas.microsoft.com/office/drawing/2014/main" id="{F0DC753D-F0BD-132F-DF04-BA2DEE84A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997" y="5510292"/>
              <a:ext cx="395830" cy="248004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BC5F062-95B3-BC89-49E3-8572ED8C3243}"/>
              </a:ext>
            </a:extLst>
          </p:cNvPr>
          <p:cNvSpPr/>
          <p:nvPr/>
        </p:nvSpPr>
        <p:spPr>
          <a:xfrm>
            <a:off x="707535" y="1603004"/>
            <a:ext cx="2588935" cy="152148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Parts &amp; BOM Releasing &amp; Change Process</a:t>
            </a:r>
            <a:endParaRPr lang="en-GB" sz="900" b="1" dirty="0">
              <a:solidFill>
                <a:srgbClr val="27536B"/>
              </a:solidFill>
            </a:endParaRPr>
          </a:p>
          <a:p>
            <a:pPr algn="ctr"/>
            <a:endParaRPr lang="en-US" sz="900" b="1" dirty="0">
              <a:solidFill>
                <a:srgbClr val="27536B"/>
              </a:solidFill>
            </a:endParaRPr>
          </a:p>
          <a:p>
            <a:pPr algn="ctr"/>
            <a:endParaRPr lang="en-GB" sz="900" b="1" dirty="0">
              <a:solidFill>
                <a:srgbClr val="27536B"/>
              </a:solidFill>
            </a:endParaRPr>
          </a:p>
        </p:txBody>
      </p:sp>
      <p:pic>
        <p:nvPicPr>
          <p:cNvPr id="11" name="Picture 2" descr="PAY1 manual for agengies and employer groups- Chapter 4">
            <a:extLst>
              <a:ext uri="{FF2B5EF4-FFF2-40B4-BE49-F238E27FC236}">
                <a16:creationId xmlns:a16="http://schemas.microsoft.com/office/drawing/2014/main" id="{AC984A21-D793-65FC-C7A9-D6566DDEE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701" y="2041365"/>
            <a:ext cx="1703007" cy="1041982"/>
          </a:xfrm>
          <a:prstGeom prst="rect">
            <a:avLst/>
          </a:prstGeom>
          <a:noFill/>
          <a:ln w="12700">
            <a:solidFill>
              <a:srgbClr val="BFDDA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016C97D-C6F1-CA52-6C83-F764117663BB}"/>
              </a:ext>
            </a:extLst>
          </p:cNvPr>
          <p:cNvSpPr/>
          <p:nvPr/>
        </p:nvSpPr>
        <p:spPr>
          <a:xfrm>
            <a:off x="1626793" y="1790411"/>
            <a:ext cx="750418" cy="179589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WERS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E041F-72B6-50FA-BC54-DEC6C608E8EF}"/>
              </a:ext>
            </a:extLst>
          </p:cNvPr>
          <p:cNvSpPr/>
          <p:nvPr/>
        </p:nvSpPr>
        <p:spPr>
          <a:xfrm>
            <a:off x="714627" y="5313534"/>
            <a:ext cx="2577137" cy="9848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endParaRPr lang="en-US" sz="900" b="1" dirty="0">
              <a:solidFill>
                <a:srgbClr val="27536B"/>
              </a:solidFill>
            </a:endParaRPr>
          </a:p>
          <a:p>
            <a:pPr algn="ctr"/>
            <a:r>
              <a:rPr lang="en-US" sz="900" b="1" dirty="0">
                <a:solidFill>
                  <a:srgbClr val="27536B"/>
                </a:solidFill>
              </a:rPr>
              <a:t>Change Management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4006A-1F91-7173-C2D1-ECED58C3C20C}"/>
              </a:ext>
            </a:extLst>
          </p:cNvPr>
          <p:cNvSpPr/>
          <p:nvPr/>
        </p:nvSpPr>
        <p:spPr>
          <a:xfrm>
            <a:off x="889979" y="5675420"/>
            <a:ext cx="1041713" cy="17315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iCreate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EB9C4-487C-E32A-FFE8-72B94107D823}"/>
              </a:ext>
            </a:extLst>
          </p:cNvPr>
          <p:cNvSpPr/>
          <p:nvPr/>
        </p:nvSpPr>
        <p:spPr>
          <a:xfrm>
            <a:off x="2016047" y="5675422"/>
            <a:ext cx="1041715" cy="173153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eTracker</a:t>
            </a:r>
            <a:r>
              <a:rPr lang="en-US" sz="800" dirty="0">
                <a:solidFill>
                  <a:schemeClr val="tx1"/>
                </a:solidFill>
              </a:rPr>
              <a:t>/PACN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A5CD90-0914-7ADC-5819-69B25020647E}"/>
              </a:ext>
            </a:extLst>
          </p:cNvPr>
          <p:cNvSpPr/>
          <p:nvPr/>
        </p:nvSpPr>
        <p:spPr>
          <a:xfrm>
            <a:off x="714627" y="4027689"/>
            <a:ext cx="2577137" cy="121484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endParaRPr lang="en-US" sz="900" b="1" dirty="0">
              <a:solidFill>
                <a:srgbClr val="27536B"/>
              </a:solidFill>
            </a:endParaRPr>
          </a:p>
          <a:p>
            <a:pPr algn="ctr"/>
            <a:r>
              <a:rPr lang="en-US" sz="900" b="1" dirty="0">
                <a:solidFill>
                  <a:srgbClr val="27536B"/>
                </a:solidFill>
              </a:rPr>
              <a:t>Finance/Cost Change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7D353-BDDB-F08A-8F10-A384194C369C}"/>
              </a:ext>
            </a:extLst>
          </p:cNvPr>
          <p:cNvSpPr/>
          <p:nvPr/>
        </p:nvSpPr>
        <p:spPr>
          <a:xfrm>
            <a:off x="1421171" y="4334595"/>
            <a:ext cx="1021041" cy="15149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NGR(REDBOOK)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B31DA-F6ED-8AC3-A0D2-D9818D369C6D}"/>
              </a:ext>
            </a:extLst>
          </p:cNvPr>
          <p:cNvSpPr/>
          <p:nvPr/>
        </p:nvSpPr>
        <p:spPr>
          <a:xfrm>
            <a:off x="1422020" y="4567302"/>
            <a:ext cx="1020192" cy="15149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CRIDX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E768F2-6521-D0C2-8597-32EC8FC81FB5}"/>
              </a:ext>
            </a:extLst>
          </p:cNvPr>
          <p:cNvSpPr/>
          <p:nvPr/>
        </p:nvSpPr>
        <p:spPr>
          <a:xfrm>
            <a:off x="1421171" y="4774845"/>
            <a:ext cx="1020192" cy="154184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ED&amp;T Sheet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B4207A-6ADB-7A50-5E10-50EAC8F7FDEB}"/>
              </a:ext>
            </a:extLst>
          </p:cNvPr>
          <p:cNvSpPr/>
          <p:nvPr/>
        </p:nvSpPr>
        <p:spPr>
          <a:xfrm>
            <a:off x="1421171" y="5000231"/>
            <a:ext cx="1020192" cy="15418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RADS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4185D-2A29-0086-A92F-DFFC299FB24C}"/>
              </a:ext>
            </a:extLst>
          </p:cNvPr>
          <p:cNvSpPr/>
          <p:nvPr/>
        </p:nvSpPr>
        <p:spPr>
          <a:xfrm>
            <a:off x="4385651" y="1084231"/>
            <a:ext cx="3228604" cy="52728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EBFA0-320B-4E31-DC3C-19F55F90EC6C}"/>
              </a:ext>
            </a:extLst>
          </p:cNvPr>
          <p:cNvSpPr/>
          <p:nvPr/>
        </p:nvSpPr>
        <p:spPr>
          <a:xfrm>
            <a:off x="4617648" y="3148535"/>
            <a:ext cx="1329491" cy="63259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>
                <a:solidFill>
                  <a:srgbClr val="27536B"/>
                </a:solidFill>
              </a:rPr>
              <a:t>Engineering &amp; Manufacturing</a:t>
            </a:r>
            <a:endParaRPr lang="en-GB" sz="900" b="1">
              <a:solidFill>
                <a:srgbClr val="27536B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0A7EC0-D8C0-227E-C010-176E5C458AEF}"/>
              </a:ext>
            </a:extLst>
          </p:cNvPr>
          <p:cNvGrpSpPr/>
          <p:nvPr/>
        </p:nvGrpSpPr>
        <p:grpSpPr>
          <a:xfrm>
            <a:off x="4805537" y="3401254"/>
            <a:ext cx="914614" cy="323481"/>
            <a:chOff x="904367" y="5514110"/>
            <a:chExt cx="818826" cy="24855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8FCF1CA-797B-0B4A-C20E-C9190EBD5631}"/>
                </a:ext>
              </a:extLst>
            </p:cNvPr>
            <p:cNvSpPr/>
            <p:nvPr/>
          </p:nvSpPr>
          <p:spPr>
            <a:xfrm>
              <a:off x="904367" y="5514110"/>
              <a:ext cx="818826" cy="2480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1"/>
                </a:solidFill>
              </a:endParaRPr>
            </a:p>
          </p:txBody>
        </p:sp>
        <p:pic>
          <p:nvPicPr>
            <p:cNvPr id="25" name="Picture 24" descr="A blue and black logo&#10;&#10;Description automatically generated">
              <a:extLst>
                <a:ext uri="{FF2B5EF4-FFF2-40B4-BE49-F238E27FC236}">
                  <a16:creationId xmlns:a16="http://schemas.microsoft.com/office/drawing/2014/main" id="{BE350D8B-706C-6143-B86C-EE2FEB0BB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265" y="5514664"/>
              <a:ext cx="395830" cy="248004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09AEBC3-E64F-7DF4-C2EF-04B0BEBE95FD}"/>
              </a:ext>
            </a:extLst>
          </p:cNvPr>
          <p:cNvSpPr/>
          <p:nvPr/>
        </p:nvSpPr>
        <p:spPr>
          <a:xfrm>
            <a:off x="4607184" y="1603005"/>
            <a:ext cx="2755723" cy="14508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Parts &amp; BOM Releasing &amp; Change Process</a:t>
            </a:r>
            <a:endParaRPr lang="en-GB" sz="900" b="1" dirty="0">
              <a:solidFill>
                <a:srgbClr val="27536B"/>
              </a:solidFill>
            </a:endParaRPr>
          </a:p>
          <a:p>
            <a:pPr algn="ctr"/>
            <a:endParaRPr lang="en-US" sz="900" b="1" dirty="0">
              <a:solidFill>
                <a:srgbClr val="27536B"/>
              </a:solidFill>
            </a:endParaRPr>
          </a:p>
          <a:p>
            <a:pPr algn="ctr"/>
            <a:endParaRPr lang="en-GB" sz="900" b="1" dirty="0">
              <a:solidFill>
                <a:srgbClr val="27536B"/>
              </a:solidFill>
            </a:endParaRPr>
          </a:p>
        </p:txBody>
      </p:sp>
      <p:pic>
        <p:nvPicPr>
          <p:cNvPr id="27" name="Picture 2" descr="PAY1 manual for agengies and employer groups- Chapter 4">
            <a:extLst>
              <a:ext uri="{FF2B5EF4-FFF2-40B4-BE49-F238E27FC236}">
                <a16:creationId xmlns:a16="http://schemas.microsoft.com/office/drawing/2014/main" id="{57BA1721-AF35-CF30-B4F6-F93B6945F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611" y="1997809"/>
            <a:ext cx="1703007" cy="1041982"/>
          </a:xfrm>
          <a:prstGeom prst="rect">
            <a:avLst/>
          </a:prstGeom>
          <a:noFill/>
          <a:ln w="12700">
            <a:solidFill>
              <a:srgbClr val="BFDDA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E1D43F8-9ED9-35B5-643F-59A822E6820A}"/>
              </a:ext>
            </a:extLst>
          </p:cNvPr>
          <p:cNvSpPr/>
          <p:nvPr/>
        </p:nvSpPr>
        <p:spPr>
          <a:xfrm>
            <a:off x="5609836" y="1768162"/>
            <a:ext cx="750418" cy="179589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WERS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37ECF-39DF-B322-6260-41106EE99741}"/>
              </a:ext>
            </a:extLst>
          </p:cNvPr>
          <p:cNvSpPr/>
          <p:nvPr/>
        </p:nvSpPr>
        <p:spPr>
          <a:xfrm>
            <a:off x="4616303" y="5073251"/>
            <a:ext cx="2746603" cy="1225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Change Management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A53D63-7881-FF53-BDF3-713DBBC95AE8}"/>
              </a:ext>
            </a:extLst>
          </p:cNvPr>
          <p:cNvSpPr/>
          <p:nvPr/>
        </p:nvSpPr>
        <p:spPr>
          <a:xfrm>
            <a:off x="4858527" y="6059728"/>
            <a:ext cx="1041713" cy="17315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iCreate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03931C-83D3-EBAE-36E5-990864583648}"/>
              </a:ext>
            </a:extLst>
          </p:cNvPr>
          <p:cNvSpPr/>
          <p:nvPr/>
        </p:nvSpPr>
        <p:spPr>
          <a:xfrm>
            <a:off x="5975044" y="6048686"/>
            <a:ext cx="1041715" cy="173153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eTracker</a:t>
            </a:r>
            <a:r>
              <a:rPr lang="en-US" sz="800" dirty="0">
                <a:solidFill>
                  <a:schemeClr val="tx1"/>
                </a:solidFill>
              </a:rPr>
              <a:t>/PACN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FEF757-2A66-BE10-CB3C-EB5C121A80FC}"/>
              </a:ext>
            </a:extLst>
          </p:cNvPr>
          <p:cNvSpPr/>
          <p:nvPr/>
        </p:nvSpPr>
        <p:spPr>
          <a:xfrm>
            <a:off x="4629416" y="3865512"/>
            <a:ext cx="2733491" cy="117001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Finance/Cost Change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437419-7C62-07C1-130A-31D6D9CDD482}"/>
              </a:ext>
            </a:extLst>
          </p:cNvPr>
          <p:cNvSpPr/>
          <p:nvPr/>
        </p:nvSpPr>
        <p:spPr>
          <a:xfrm>
            <a:off x="8363980" y="1083134"/>
            <a:ext cx="3120484" cy="527284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6E9CB1-707A-5CB6-32D5-D5939F58CA4F}"/>
              </a:ext>
            </a:extLst>
          </p:cNvPr>
          <p:cNvSpPr/>
          <p:nvPr/>
        </p:nvSpPr>
        <p:spPr>
          <a:xfrm>
            <a:off x="8678915" y="2929532"/>
            <a:ext cx="1210795" cy="6756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Engineering &amp; Manufacturing</a:t>
            </a:r>
            <a:endParaRPr lang="en-GB" sz="900" b="1" dirty="0">
              <a:solidFill>
                <a:srgbClr val="27536B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8683CF-23A5-491B-B759-4D3182C5D102}"/>
              </a:ext>
            </a:extLst>
          </p:cNvPr>
          <p:cNvGrpSpPr/>
          <p:nvPr/>
        </p:nvGrpSpPr>
        <p:grpSpPr>
          <a:xfrm>
            <a:off x="8822498" y="3203885"/>
            <a:ext cx="914614" cy="323481"/>
            <a:chOff x="904367" y="5514110"/>
            <a:chExt cx="818826" cy="24855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9420E3-788F-5F13-F901-E9EAF8881233}"/>
                </a:ext>
              </a:extLst>
            </p:cNvPr>
            <p:cNvSpPr/>
            <p:nvPr/>
          </p:nvSpPr>
          <p:spPr>
            <a:xfrm>
              <a:off x="904367" y="5514110"/>
              <a:ext cx="818826" cy="2480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tx1"/>
                </a:solidFill>
              </a:endParaRPr>
            </a:p>
          </p:txBody>
        </p:sp>
        <p:pic>
          <p:nvPicPr>
            <p:cNvPr id="37" name="Picture 36" descr="A blue and black logo&#10;&#10;Description automatically generated">
              <a:extLst>
                <a:ext uri="{FF2B5EF4-FFF2-40B4-BE49-F238E27FC236}">
                  <a16:creationId xmlns:a16="http://schemas.microsoft.com/office/drawing/2014/main" id="{DB007493-5AB8-DC77-FDC5-05E157EC6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265" y="5514664"/>
              <a:ext cx="395830" cy="248004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ACC3758-F6E6-5847-84A0-94B525861737}"/>
              </a:ext>
            </a:extLst>
          </p:cNvPr>
          <p:cNvSpPr/>
          <p:nvPr/>
        </p:nvSpPr>
        <p:spPr>
          <a:xfrm>
            <a:off x="8683800" y="1580866"/>
            <a:ext cx="2535246" cy="128462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Parts &amp; BOM Releasing &amp; Change Process</a:t>
            </a:r>
            <a:endParaRPr lang="en-GB" sz="900" b="1" dirty="0">
              <a:solidFill>
                <a:srgbClr val="27536B"/>
              </a:solidFill>
            </a:endParaRPr>
          </a:p>
          <a:p>
            <a:pPr algn="ctr"/>
            <a:endParaRPr lang="en-US" sz="900" b="1" dirty="0">
              <a:solidFill>
                <a:srgbClr val="27536B"/>
              </a:solidFill>
            </a:endParaRPr>
          </a:p>
          <a:p>
            <a:pPr algn="ctr"/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77FC76-D304-7E2C-135D-867AB4E48A62}"/>
              </a:ext>
            </a:extLst>
          </p:cNvPr>
          <p:cNvSpPr/>
          <p:nvPr/>
        </p:nvSpPr>
        <p:spPr>
          <a:xfrm>
            <a:off x="8678915" y="4929028"/>
            <a:ext cx="2540131" cy="13022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Change Management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4A36C5-5537-0C02-3CE0-04BF3623A63A}"/>
              </a:ext>
            </a:extLst>
          </p:cNvPr>
          <p:cNvSpPr/>
          <p:nvPr/>
        </p:nvSpPr>
        <p:spPr>
          <a:xfrm>
            <a:off x="8678915" y="3753324"/>
            <a:ext cx="1201095" cy="10750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Finance/Cost Change</a:t>
            </a:r>
            <a:endParaRPr lang="en-GB" sz="900" b="1" dirty="0">
              <a:solidFill>
                <a:srgbClr val="27536B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5FFC2EE-3D7D-A546-8D53-0A47845DF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957" y="5214749"/>
            <a:ext cx="604532" cy="68161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6D8F806-AF82-A15B-2F45-836069640A3B}"/>
              </a:ext>
            </a:extLst>
          </p:cNvPr>
          <p:cNvSpPr txBox="1"/>
          <p:nvPr/>
        </p:nvSpPr>
        <p:spPr>
          <a:xfrm>
            <a:off x="6338413" y="2662219"/>
            <a:ext cx="106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2023x On-Premise</a:t>
            </a:r>
            <a:endParaRPr lang="en-GB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5E9DF7-0E8F-EC1F-334C-FB4DFD736EE0}"/>
              </a:ext>
            </a:extLst>
          </p:cNvPr>
          <p:cNvSpPr/>
          <p:nvPr/>
        </p:nvSpPr>
        <p:spPr>
          <a:xfrm>
            <a:off x="2102592" y="3245576"/>
            <a:ext cx="1189173" cy="6756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ERP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F48F07-FF64-51CC-8B8C-00E2D2B4BC1E}"/>
              </a:ext>
            </a:extLst>
          </p:cNvPr>
          <p:cNvSpPr/>
          <p:nvPr/>
        </p:nvSpPr>
        <p:spPr>
          <a:xfrm>
            <a:off x="2255549" y="3527366"/>
            <a:ext cx="914614" cy="3227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SAP</a:t>
            </a:r>
            <a:endParaRPr lang="en-GB" sz="1000" dirty="0">
              <a:solidFill>
                <a:schemeClr val="tx1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D730F7E-0057-2FC0-2103-9B217FBBF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956" y="1875086"/>
            <a:ext cx="604532" cy="68161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2487FDC-AADA-9266-9E1D-4BDF3FFC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956" y="5186076"/>
            <a:ext cx="604532" cy="6816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BEDDDAC-DECC-A6A2-C9DE-A00FD404B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823" y="2055394"/>
            <a:ext cx="604532" cy="68161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BA16382-1507-519B-138B-F239F9051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4027689"/>
            <a:ext cx="604532" cy="68161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F337F12-D03B-5D04-27CC-7D995185BC1A}"/>
              </a:ext>
            </a:extLst>
          </p:cNvPr>
          <p:cNvSpPr txBox="1"/>
          <p:nvPr/>
        </p:nvSpPr>
        <p:spPr>
          <a:xfrm>
            <a:off x="9297489" y="5870702"/>
            <a:ext cx="1421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2023x On-Premise</a:t>
            </a:r>
            <a:endParaRPr lang="en-GB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90E947-9908-0D78-450C-7FD8DDEDF8C0}"/>
              </a:ext>
            </a:extLst>
          </p:cNvPr>
          <p:cNvSpPr/>
          <p:nvPr/>
        </p:nvSpPr>
        <p:spPr>
          <a:xfrm>
            <a:off x="6061592" y="3148536"/>
            <a:ext cx="1301316" cy="6314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ERP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BDAAA6-9D64-17DF-3EBF-50454634B215}"/>
              </a:ext>
            </a:extLst>
          </p:cNvPr>
          <p:cNvSpPr/>
          <p:nvPr/>
        </p:nvSpPr>
        <p:spPr>
          <a:xfrm>
            <a:off x="6251232" y="3373332"/>
            <a:ext cx="914614" cy="3227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SAP4HANA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EED677-F053-8440-67D9-097DB15CE0E4}"/>
              </a:ext>
            </a:extLst>
          </p:cNvPr>
          <p:cNvSpPr/>
          <p:nvPr/>
        </p:nvSpPr>
        <p:spPr>
          <a:xfrm>
            <a:off x="10008251" y="2911969"/>
            <a:ext cx="1210795" cy="6756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t"/>
          <a:lstStyle/>
          <a:p>
            <a:pPr algn="ctr"/>
            <a:r>
              <a:rPr lang="en-US" sz="900" b="1" dirty="0">
                <a:solidFill>
                  <a:srgbClr val="27536B"/>
                </a:solidFill>
              </a:rPr>
              <a:t>ERP</a:t>
            </a:r>
            <a:endParaRPr lang="en-GB" sz="900" b="1" dirty="0">
              <a:solidFill>
                <a:srgbClr val="27536B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B9951C-010B-49B5-7EC5-38553EE8D167}"/>
              </a:ext>
            </a:extLst>
          </p:cNvPr>
          <p:cNvSpPr/>
          <p:nvPr/>
        </p:nvSpPr>
        <p:spPr>
          <a:xfrm>
            <a:off x="10171814" y="3146394"/>
            <a:ext cx="914614" cy="3227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SAP4HANA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E9CD4-A317-0227-B8D8-D62992D61611}"/>
              </a:ext>
            </a:extLst>
          </p:cNvPr>
          <p:cNvSpPr txBox="1"/>
          <p:nvPr/>
        </p:nvSpPr>
        <p:spPr>
          <a:xfrm>
            <a:off x="9312916" y="2533194"/>
            <a:ext cx="1421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2026x On-Premise</a:t>
            </a:r>
            <a:endParaRPr lang="en-GB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C5CB6700-DBCE-D8F7-5324-BF13A40538E9}"/>
              </a:ext>
            </a:extLst>
          </p:cNvPr>
          <p:cNvSpPr/>
          <p:nvPr/>
        </p:nvSpPr>
        <p:spPr>
          <a:xfrm>
            <a:off x="7362905" y="4215826"/>
            <a:ext cx="1306995" cy="13747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B2A65A78-C696-33FA-E59C-6AB358BEED54}"/>
              </a:ext>
            </a:extLst>
          </p:cNvPr>
          <p:cNvSpPr/>
          <p:nvPr/>
        </p:nvSpPr>
        <p:spPr>
          <a:xfrm>
            <a:off x="7362906" y="1925232"/>
            <a:ext cx="1316009" cy="13747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15D61E7C-CFFF-210A-32B3-F9DBA54D1F3C}"/>
              </a:ext>
            </a:extLst>
          </p:cNvPr>
          <p:cNvSpPr/>
          <p:nvPr/>
        </p:nvSpPr>
        <p:spPr>
          <a:xfrm>
            <a:off x="7362905" y="5481468"/>
            <a:ext cx="1320894" cy="13747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A265E01-80D4-4F90-1CBE-72E5AFE9AB76}"/>
              </a:ext>
            </a:extLst>
          </p:cNvPr>
          <p:cNvSpPr/>
          <p:nvPr/>
        </p:nvSpPr>
        <p:spPr>
          <a:xfrm>
            <a:off x="707536" y="1159848"/>
            <a:ext cx="2588934" cy="1965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</a:rPr>
              <a:t>Legacy Solution</a:t>
            </a:r>
            <a:endParaRPr lang="en-GB" sz="1400" b="1" dirty="0">
              <a:latin typeface="DM Sans" pitchFamily="2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BF0C8B4-43DD-F637-4EBC-5E0A66728332}"/>
              </a:ext>
            </a:extLst>
          </p:cNvPr>
          <p:cNvSpPr/>
          <p:nvPr/>
        </p:nvSpPr>
        <p:spPr>
          <a:xfrm>
            <a:off x="4607184" y="1151776"/>
            <a:ext cx="2755723" cy="228699"/>
          </a:xfrm>
          <a:prstGeom prst="roundRect">
            <a:avLst/>
          </a:prstGeom>
          <a:solidFill>
            <a:srgbClr val="009E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</a:rPr>
              <a:t>Tactical(Current) Solution</a:t>
            </a:r>
            <a:endParaRPr lang="en-GB" sz="1400" b="1" dirty="0">
              <a:latin typeface="DM Sans" pitchFamily="2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B23E05C-166C-56BF-BC0D-2AD6320A9371}"/>
              </a:ext>
            </a:extLst>
          </p:cNvPr>
          <p:cNvSpPr/>
          <p:nvPr/>
        </p:nvSpPr>
        <p:spPr>
          <a:xfrm>
            <a:off x="8627125" y="1161418"/>
            <a:ext cx="2623547" cy="225813"/>
          </a:xfrm>
          <a:prstGeom prst="roundRect">
            <a:avLst/>
          </a:prstGeom>
          <a:solidFill>
            <a:srgbClr val="00AA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DM Sans" pitchFamily="2" charset="0"/>
              </a:rPr>
              <a:t>Strategic(Future) Solution</a:t>
            </a:r>
            <a:endParaRPr lang="en-GB" sz="1400" b="1" dirty="0">
              <a:latin typeface="DM Sans" pitchFamily="2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BD5A09BD-6E1D-98CC-EBA2-B7479B058B3C}"/>
              </a:ext>
            </a:extLst>
          </p:cNvPr>
          <p:cNvSpPr/>
          <p:nvPr/>
        </p:nvSpPr>
        <p:spPr>
          <a:xfrm>
            <a:off x="3291764" y="1852023"/>
            <a:ext cx="1324539" cy="1456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CBF2CC14-1A31-2820-E2FE-1DE1D07EB27A}"/>
              </a:ext>
            </a:extLst>
          </p:cNvPr>
          <p:cNvSpPr/>
          <p:nvPr/>
        </p:nvSpPr>
        <p:spPr>
          <a:xfrm>
            <a:off x="3288413" y="5514962"/>
            <a:ext cx="1318771" cy="18319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1EF3EB7-33AF-10F7-7FE4-FCF50B0FBB10}"/>
              </a:ext>
            </a:extLst>
          </p:cNvPr>
          <p:cNvSpPr/>
          <p:nvPr/>
        </p:nvSpPr>
        <p:spPr>
          <a:xfrm>
            <a:off x="876374" y="5936415"/>
            <a:ext cx="2251255" cy="237057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Celonis</a:t>
            </a:r>
            <a:r>
              <a:rPr lang="en-US" sz="800" dirty="0">
                <a:solidFill>
                  <a:schemeClr val="tx1"/>
                </a:solidFill>
              </a:rPr>
              <a:t>-Dashboarding &amp; Tracking- Program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96609C-D167-4FAA-FD39-B146FA31A9E5}"/>
              </a:ext>
            </a:extLst>
          </p:cNvPr>
          <p:cNvSpPr/>
          <p:nvPr/>
        </p:nvSpPr>
        <p:spPr>
          <a:xfrm>
            <a:off x="4841772" y="5802117"/>
            <a:ext cx="779185" cy="198939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Celonis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1F596AE-1AC1-01B2-687B-B9B619F2B86F}"/>
              </a:ext>
            </a:extLst>
          </p:cNvPr>
          <p:cNvSpPr/>
          <p:nvPr/>
        </p:nvSpPr>
        <p:spPr>
          <a:xfrm>
            <a:off x="10296531" y="5171076"/>
            <a:ext cx="779185" cy="198939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EDP4E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E1BA2B3-11F2-2EB2-6304-2F7E13AC999D}"/>
              </a:ext>
            </a:extLst>
          </p:cNvPr>
          <p:cNvSpPr/>
          <p:nvPr/>
        </p:nvSpPr>
        <p:spPr>
          <a:xfrm>
            <a:off x="1184862" y="3540779"/>
            <a:ext cx="690741" cy="29787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TEAMCENTER</a:t>
            </a:r>
            <a:endParaRPr lang="en-GB" sz="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4D73F47-5951-4010-606D-D5EC0FD53CA3}"/>
              </a:ext>
            </a:extLst>
          </p:cNvPr>
          <p:cNvSpPr/>
          <p:nvPr/>
        </p:nvSpPr>
        <p:spPr>
          <a:xfrm>
            <a:off x="5464523" y="4097584"/>
            <a:ext cx="1021041" cy="15149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NGR(REDBOOK)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1273E24-86B6-CE70-FBEF-F82FF9A9FA72}"/>
              </a:ext>
            </a:extLst>
          </p:cNvPr>
          <p:cNvSpPr/>
          <p:nvPr/>
        </p:nvSpPr>
        <p:spPr>
          <a:xfrm>
            <a:off x="5465372" y="4330291"/>
            <a:ext cx="1020192" cy="15149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CRIDX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F180C0D-4AE3-9536-297A-0647CF382AAE}"/>
              </a:ext>
            </a:extLst>
          </p:cNvPr>
          <p:cNvSpPr/>
          <p:nvPr/>
        </p:nvSpPr>
        <p:spPr>
          <a:xfrm>
            <a:off x="5464523" y="4537834"/>
            <a:ext cx="1020192" cy="154184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ED&amp;T Sheet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23900B0-03F1-E678-1C0C-E180D7CFB561}"/>
              </a:ext>
            </a:extLst>
          </p:cNvPr>
          <p:cNvSpPr/>
          <p:nvPr/>
        </p:nvSpPr>
        <p:spPr>
          <a:xfrm>
            <a:off x="5464523" y="4763220"/>
            <a:ext cx="1020192" cy="154185"/>
          </a:xfrm>
          <a:prstGeom prst="rect">
            <a:avLst/>
          </a:prstGeom>
          <a:solidFill>
            <a:srgbClr val="BFDDAB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RADS</a:t>
            </a:r>
            <a:endParaRPr lang="en-GB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38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DM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Gupta</dc:creator>
  <cp:lastModifiedBy>Shweta Gupta</cp:lastModifiedBy>
  <cp:revision>1</cp:revision>
  <dcterms:created xsi:type="dcterms:W3CDTF">2026-06-01T07:12:20Z</dcterms:created>
  <dcterms:modified xsi:type="dcterms:W3CDTF">2026-06-01T07:12:33Z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2026-06-01T07:12:21Z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068ac1d8-25a1-45ff-a81a-4bba74b0d683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10, 3, 0, 1</vt:lpwstr>
  </property>
</Properties>
</file>