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731520"/>
            <a:ext cx="2286000" cy="228600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45920"/>
            <a:ext cx="1371600" cy="1371600"/>
          </a:xfrm>
          <a:prstGeom prst="ellipse">
            <a:avLst/>
          </a:prstGeom>
          <a:solidFill>
            <a:srgbClr val="C8962E">
              <a:alpha val="2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LAND ROVER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Change Management through 3DEXPERIENCE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programme to consolidate JLR's change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and eliminate duplication across legacy systems.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Overview  •  2025–2027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is needed at JLR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LANDSCAPE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0020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1671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JLR operates multiple disconnected systems (iCreate, 3DX, eTracker/PACN, NGR/REDBOOK, CRIDX) with no single source of truth for change data.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600200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600200"/>
            <a:ext cx="54864" cy="13716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Manual Work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83480" y="21671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must enter the same change information across both 3DX and iCreate, creating significant rework and increasing the risk of data mismatches.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1480" y="3200400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11480" y="320040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83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&amp; Errors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4360" y="37673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systems cause inconsistent change records, version conflicts and downstream reporting inaccuracies across engineering and manufacturing.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00600" y="3200400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3200400"/>
            <a:ext cx="54864" cy="13716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58968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Maintenance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83480" y="37673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multiple overlapping platforms consumes significant IT and engineering resources, making scaling or innovation extremely difficult.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2"/>
          <p:cNvSpPr/>
          <p:nvPr/>
        </p:nvSpPr>
        <p:spPr>
          <a:xfrm>
            <a:off x="502920" y="47091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Solution: Decommission iCreate — make 3DEXPERIENCE the single platform for all change management at JLR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iCreate?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JLR's legacy change management system — and its role in today's landscape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148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is JLR's legacy proprietary platform used to initiate, track, approve and communicate engineering changes across vehicle programmes.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3749040" cy="0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(CR) initiation and routing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across vehicle BOMs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Multi-stakeholder approval workflows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eTracker / PACN for cost changes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change notification via NGR/REDBOOK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documentation &amp; ED&amp;T sheet management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611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CONNECTED TO iCREATE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691640"/>
            <a:ext cx="3749040" cy="384048"/>
          </a:xfrm>
          <a:prstGeom prst="rect">
            <a:avLst/>
          </a:prstGeom>
          <a:solidFill>
            <a:srgbClr val="1A2E45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728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 (3DX)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928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/ BOM &amp; Change Platform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2194560"/>
            <a:ext cx="3749040" cy="384048"/>
          </a:xfrm>
          <a:prstGeom prst="rect">
            <a:avLst/>
          </a:prstGeom>
          <a:solidFill>
            <a:srgbClr val="1A2E45"/>
          </a:solidFill>
          <a:ln w="10160">
            <a:solidFill>
              <a:srgbClr val="C896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31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eTracker / PACN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957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Cost Change Notification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3749040" cy="384048"/>
          </a:xfrm>
          <a:prstGeom prst="rect">
            <a:avLst/>
          </a:prstGeom>
          <a:solidFill>
            <a:srgbClr val="1A2E45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34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 (REDBOOK)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8986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&amp; Parts Register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3200400"/>
            <a:ext cx="3749040" cy="384048"/>
          </a:xfrm>
          <a:prstGeom prst="rect">
            <a:avLst/>
          </a:prstGeom>
          <a:solidFill>
            <a:srgbClr val="1A2E45"/>
          </a:solidFill>
          <a:ln w="10160">
            <a:solidFill>
              <a:srgbClr val="C89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36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CRIDX / ED&amp;T Sheet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4015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Documentation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3703320"/>
            <a:ext cx="3749040" cy="384048"/>
          </a:xfrm>
          <a:prstGeom prst="rect">
            <a:avLst/>
          </a:prstGeom>
          <a:solidFill>
            <a:srgbClr val="1A2E45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39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90448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Vehicle &amp; Parts Data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4206240"/>
            <a:ext cx="3749040" cy="384048"/>
          </a:xfrm>
          <a:prstGeom prst="rect">
            <a:avLst/>
          </a:prstGeom>
          <a:solidFill>
            <a:srgbClr val="1A2E45"/>
          </a:solidFill>
          <a:ln w="10160">
            <a:solidFill>
              <a:srgbClr val="C89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SAP4HANA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4074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– Finance &amp; Supply Chain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Decommission iCreate?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 for consolidating on 3DEXPERIENCE as the single change management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0077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898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Duplication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2377440" cy="0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450592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duplicate data entry between 3DX and iCreate for every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Dual-system validation creates bottlenecks and errors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 removes the need for parallel processes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of record = faster turnaround and less rework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18872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C896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8988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Infrastructure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2359152"/>
            <a:ext cx="2377440" cy="0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2450592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is an ageing, costly platform requiring dedicated maintenance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onto 3DX reduces total infrastructure footprint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vendor contracts, licences and integration touchpoints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IT budget for strategic capabilities and innovation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80760" y="118872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188720"/>
            <a:ext cx="2743200" cy="54864"/>
          </a:xfrm>
          <a:prstGeom prst="rect">
            <a:avLst/>
          </a:prstGeom>
          <a:solidFill>
            <a:srgbClr val="0077A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8988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Future-State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2359152"/>
            <a:ext cx="2377440" cy="0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63640" y="2450592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is JLR's strategic PLM platform — the right home for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event-driven automation and AI-assisted workflows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supports real-time dashboards &amp; analytics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intelligent, AI-driven change management at scale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0040" y="4709160"/>
            <a:ext cx="8503920" cy="329184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simplified, maintainable landscape where all changes originate and live exclusively in 3DEXPERIENCE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Transformation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Decommissioning Journey  •  2025–2027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8229600" cy="128016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98448"/>
            <a:ext cx="2651760" cy="128016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298448"/>
            <a:ext cx="2651760" cy="12801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1298448"/>
            <a:ext cx="2697480" cy="12801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" y="124358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27248" y="124358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70448" y="124358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67928" y="124358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1572768"/>
            <a:ext cx="2743200" cy="33832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1572768"/>
            <a:ext cx="2743200" cy="54864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1691640"/>
            <a:ext cx="804672" cy="219456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691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35024" y="17099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– Q4 2025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1965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L460 Pilot &amp; Foundations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359152"/>
            <a:ext cx="2523744" cy="0"/>
          </a:xfrm>
          <a:prstGeom prst="line">
            <a:avLst/>
          </a:prstGeom>
          <a:noFill/>
          <a:ln w="635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14016"/>
            <a:ext cx="252374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3DX-native change process for L460 (single plant)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Change Builder — standardised change creation in 3DX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dashboarding &amp; real-time visibility of change status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capability for BOM &amp; vehicle line effects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reduction in iCreate usage — parallel run begins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4791456"/>
            <a:ext cx="2743200" cy="320040"/>
          </a:xfrm>
          <a:prstGeom prst="rect">
            <a:avLst/>
          </a:prstGeom>
          <a:solidFill>
            <a:srgbClr val="0077A8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481888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Landscape simplification begins; iCreate usage drops by ~40%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27832" y="1572768"/>
            <a:ext cx="2743200" cy="33832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1572768"/>
            <a:ext cx="2743200" cy="5486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1691640"/>
            <a:ext cx="804672" cy="21945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1691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15384" y="17099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– Q4 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37560" y="1965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L461 Expansion &amp; Automation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2359152"/>
            <a:ext cx="2523744" cy="0"/>
          </a:xfrm>
          <a:prstGeom prst="line">
            <a:avLst/>
          </a:prstGeom>
          <a:noFill/>
          <a:ln w="6350">
            <a:solidFill>
              <a:srgbClr val="007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414016"/>
            <a:ext cx="252374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3DX change workflows to L461 and similar programmes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automation — triggers replace manual handoffs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EDP4E integration for enterprise-wide reporting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approvals &amp; notifications reduce coordination load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decommissioned for new programmes; legacy maintained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27832" y="4791456"/>
            <a:ext cx="2743200" cy="320040"/>
          </a:xfrm>
          <a:prstGeom prst="rect">
            <a:avLst/>
          </a:prstGeom>
          <a:solidFill>
            <a:srgbClr val="C8962E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319272" y="481888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infrastructure: iCreate in maintenance-only mode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08192" y="1572768"/>
            <a:ext cx="2743200" cy="33832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08192" y="1572768"/>
            <a:ext cx="2743200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1691640"/>
            <a:ext cx="804672" cy="21945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1691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95744" y="17099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– Q3 2027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1965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Decommission &amp; AI Platform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2359152"/>
            <a:ext cx="2523744" cy="0"/>
          </a:xfrm>
          <a:prstGeom prst="line">
            <a:avLst/>
          </a:prstGeom>
          <a:noFill/>
          <a:ln w="6350">
            <a:solidFill>
              <a:srgbClr val="0077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414016"/>
            <a:ext cx="252374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&amp; service vehicle change data migrated to 3DX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BOM and lifecycle integration fully deployed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impact analysis and smart change recommendations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fully decommissioned — zero dual-system overhead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intelligent change platform operational at scale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08192" y="4791456"/>
            <a:ext cx="2743200" cy="320040"/>
          </a:xfrm>
          <a:prstGeom prst="rect">
            <a:avLst/>
          </a:prstGeom>
          <a:solidFill>
            <a:srgbClr val="1A7A4A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199632" y="481888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decommission achieved; single platform, zero duplication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JLR iCreate Decommissioning - Change Management on 3DX</dc:title>
  <dc:subject>PptxGenJS Presentation</dc:subject>
  <dc:creator>PptxGenJS</dc:creator>
  <cp:lastModifiedBy>PptxGenJS</cp:lastModifiedBy>
  <cp:revision>1</cp:revision>
  <dcterms:created xsi:type="dcterms:W3CDTF">2026-06-01T07:16:51Z</dcterms:created>
  <dcterms:modified xsi:type="dcterms:W3CDTF">2026-06-01T07:16:51Z</dcterms:modified>
</cp:coreProperties>
</file>