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1" r:id="rId2"/>
    <p:sldId id="2562" r:id="rId3"/>
    <p:sldId id="2563" r:id="rId4"/>
    <p:sldId id="2564" r:id="rId5"/>
    <p:sldId id="2565" r:id="rId6"/>
    <p:sldId id="2566" r:id="rId7"/>
    <p:sldId id="25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volution to an AI-Driven Intelligent Change Platform" id="{A87623FD-ADE8-4712-B641-C5407E4BC119}">
          <p14:sldIdLst>
            <p14:sldId id="2561"/>
          </p14:sldIdLst>
        </p14:section>
        <p14:section name="Change Platform Transformation Roadmap" id="{CC5FCA5B-5CC7-403D-BF1A-0AA56DC830EC}">
          <p14:sldIdLst>
            <p14:sldId id="2562"/>
            <p14:sldId id="2563"/>
            <p14:sldId id="2564"/>
            <p14:sldId id="2565"/>
            <p14:sldId id="2566"/>
            <p14:sldId id="25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4DD56E-C12B-4249-962A-0B1009D102B8}" type="datetimeFigureOut">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28A498-F271-4939-8F68-8D8B21C3D2CE}" type="slidenum">
              <a:t>‹#›</a:t>
            </a:fld>
            <a:endParaRPr lang="en-US"/>
          </a:p>
        </p:txBody>
      </p:sp>
    </p:spTree>
    <p:extLst>
      <p:ext uri="{BB962C8B-B14F-4D97-AF65-F5344CB8AC3E}">
        <p14:creationId xmlns:p14="http://schemas.microsoft.com/office/powerpoint/2010/main" val="2793279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8851CFED-F1F0-4481-9334-9607F33B74A3}" type="slidenum">
              <a:t>1</a:t>
            </a:fld>
            <a:endParaRPr lang="en-US"/>
          </a:p>
        </p:txBody>
      </p:sp>
    </p:spTree>
    <p:extLst>
      <p:ext uri="{BB962C8B-B14F-4D97-AF65-F5344CB8AC3E}">
        <p14:creationId xmlns:p14="http://schemas.microsoft.com/office/powerpoint/2010/main" val="663750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Transformation Journey Overview: From Manual to Intelligent, Current State: Manual, iCreate-Driven, and Duplicative, Phase 1 (L460 – 2026): Dashboarding, Initial Automation, and Impact Analysis, Phase 2 (L461 Expansion): Reusable Workflows and Event-Based Triggers, Phase 3: Legacy Vehicles, Service BOM, and Lifecycle Integration, Future State: AI-Driven Intelligent Change Platform</a:t>
            </a:r>
          </a:p>
        </p:txBody>
      </p:sp>
      <p:sp>
        <p:nvSpPr>
          <p:cNvPr id="4" name="Slide Number Placeholder 3"/>
          <p:cNvSpPr>
            <a:spLocks noGrp="1"/>
          </p:cNvSpPr>
          <p:nvPr>
            <p:ph type="sldNum" sz="quarter" idx="5"/>
          </p:nvPr>
        </p:nvSpPr>
        <p:spPr/>
        <p:txBody>
          <a:bodyPr/>
          <a:lstStyle/>
          <a:p>
            <a:fld id="{8851CFED-F1F0-4481-9334-9607F33B74A3}" type="slidenum">
              <a:t>2</a:t>
            </a:fld>
            <a:endParaRPr lang="en-US"/>
          </a:p>
        </p:txBody>
      </p:sp>
    </p:spTree>
    <p:extLst>
      <p:ext uri="{BB962C8B-B14F-4D97-AF65-F5344CB8AC3E}">
        <p14:creationId xmlns:p14="http://schemas.microsoft.com/office/powerpoint/2010/main" val="1461654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transformation journey outlined in this roadmap represents a structured evolution from fragmented, manual change management practices to a unified, AI-driven intelligent change platform. At the highest level, the journey moves through clearly defined maturity stages, each designed to address specific pain points while building the foundation for the next phase. Today’s environment is characterized by heavy manual effort, dependence on iCreate, and duplicated activities across platforms such as 3DX and iCreate. This results in inefficiencies, increased cycle times, and higher risk of errors or inconsistencies in change execution. The roadmap addresses these challenges incrementally rather than through a disruptive, one-time overhaul.
The first major shift focuses on introducing transparency and control through dashboarding, initial automation, and structured impact analysis. This phase emphasizes visibility—helping stakeholders understand what is changing, where, and with what potential impact—while also reducing basic manual work. The second phase expands these capabilities by introducing reusable workflows and event-based triggers. At this stage, change processes become more standardized, repeatable, and responsive, allowing the organization to scale change management efficiently across programs and platforms. Human intervention is still present, but it is increasingly guided by system-driven logic rather than ad hoc decision-making.
The third phase extends modernization efforts to legacy vehicles by integrating Service BOMs and lifecycle data. This ensures that older platforms and products are not left behind and that change intelligence spans the full product portfolio. Finally, the future state represents a fundamental shift in how changes are created, analyzed, and executed. AI capabilities enable automatic impact analysis, smart change creation, and predictive insights that anticipate downstream effects before issues occur. Full decommissioning of iCreate becomes possible because its core functions are absorbed and enhanced within the intelligent platform. Overall, this journey balances risk, value delivery, and long-term vision, ensuring sustainable transformation rather than short-term optimization.</a:t>
            </a:r>
          </a:p>
        </p:txBody>
      </p:sp>
      <p:sp>
        <p:nvSpPr>
          <p:cNvPr id="4" name="Slide Number Placeholder 3"/>
          <p:cNvSpPr>
            <a:spLocks noGrp="1"/>
          </p:cNvSpPr>
          <p:nvPr>
            <p:ph type="sldNum" sz="quarter" idx="5"/>
          </p:nvPr>
        </p:nvSpPr>
        <p:spPr/>
        <p:txBody>
          <a:bodyPr/>
          <a:lstStyle/>
          <a:p>
            <a:fld id="{8851CFED-F1F0-4481-9334-9607F33B74A3}" type="slidenum">
              <a:t>3</a:t>
            </a:fld>
            <a:endParaRPr lang="en-US"/>
          </a:p>
        </p:txBody>
      </p:sp>
    </p:spTree>
    <p:extLst>
      <p:ext uri="{BB962C8B-B14F-4D97-AF65-F5344CB8AC3E}">
        <p14:creationId xmlns:p14="http://schemas.microsoft.com/office/powerpoint/2010/main" val="2081789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current state of the change management ecosystem is heavily manual and largely driven by iCreate, with significant duplication of effort across iCreate and 3DX. Change creation, analysis, and execution often rely on individual expertise rather than system intelligence, making outcomes inconsistent and difficult to scale. Engineers and change coordinators frequently perform the same evaluations multiple times in different tools, leading to wasted effort and longer turnaround times. Because data and logic are fragmented across platforms, there is limited end-to-end visibility into the true impact of a change, especially when it spans multiple systems, products, or lifecycle stages.
Another critical challenge in the current state is the lack of standardized workflows. While processes may be documented, actual execution varies widely across teams and programs. This variability increases operational risk, particularly when experienced resources are unavailable or when changes must be executed under tight timelines. Manual handoffs between systems also introduce opportunities for errors, such as missed dependencies, outdated data, or incorrect configurations. As product complexity increases, these risks compound, making the current model increasingly unsustainable.
From a strategic perspective, continued dependence on iCreate limits innovation. Enhancements tend to focus on keeping the system operational rather than enabling new capabilities such as predictive analysis or intelligent automation. Reporting is often retrospective, meaning issues are identified after they have already caused delays or rework. This reactive posture affects not only engineering efficiency but also downstream functions such as manufacturing, service, and supply chain. In summary, the current state delivers basic functionality but at a high operational cost. It provides a clear baseline that justifies the need for a phased, technology-driven transformation toward a more intelligent, integrated, and future-ready change platform.</a:t>
            </a:r>
          </a:p>
        </p:txBody>
      </p:sp>
      <p:sp>
        <p:nvSpPr>
          <p:cNvPr id="4" name="Slide Number Placeholder 3"/>
          <p:cNvSpPr>
            <a:spLocks noGrp="1"/>
          </p:cNvSpPr>
          <p:nvPr>
            <p:ph type="sldNum" sz="quarter" idx="5"/>
          </p:nvPr>
        </p:nvSpPr>
        <p:spPr/>
        <p:txBody>
          <a:bodyPr/>
          <a:lstStyle/>
          <a:p>
            <a:fld id="{8851CFED-F1F0-4481-9334-9607F33B74A3}" type="slidenum">
              <a:t>4</a:t>
            </a:fld>
            <a:endParaRPr lang="en-US"/>
          </a:p>
        </p:txBody>
      </p:sp>
    </p:spTree>
    <p:extLst>
      <p:ext uri="{BB962C8B-B14F-4D97-AF65-F5344CB8AC3E}">
        <p14:creationId xmlns:p14="http://schemas.microsoft.com/office/powerpoint/2010/main" val="938141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Phase 1 represents the foundational step in the transformation journey and is planned around the L460 timeline in 2026. The primary objective of this phase is to establish visibility, consistency, and early automation without introducing excessive disruption to existing operations. Dashboarding plays a central role by providing stakeholders with a consolidated view of change activities, statuses, and key metrics. Instead of relying on manual tracking or fragmented reports, teams gain near-real-time insights into change volume, bottlenecks, and cycle times.
Initial automation in this phase targets high-effort, low-complexity tasks that consume significant manual time today. Examples include automated data synchronization between systems, standardized change templates, and rule-based validations that prevent incomplete or incorrect change submissions. While these automations may appear incremental, they collectively reduce human error and free up expert resources to focus on higher-value analysis and decision-making.
A critical capability introduced in Phase 1 is structured impact analysis. Rather than relying solely on individual judgment, the system begins to assess which parts, documents, configurations, or downstream processes may be affected by a proposed change. Although this analysis may not yet be fully intelligent or predictive, it establishes a consistent framework and data model that later AI capabilities can build upon. Importantly, Phase 1 is as much about change management and adoption as it is about technology. By delivering quick, visible benefits, it builds confidence among users and creates momentum for deeper transformation in subsequent phases.</a:t>
            </a:r>
          </a:p>
        </p:txBody>
      </p:sp>
      <p:sp>
        <p:nvSpPr>
          <p:cNvPr id="4" name="Slide Number Placeholder 3"/>
          <p:cNvSpPr>
            <a:spLocks noGrp="1"/>
          </p:cNvSpPr>
          <p:nvPr>
            <p:ph type="sldNum" sz="quarter" idx="5"/>
          </p:nvPr>
        </p:nvSpPr>
        <p:spPr/>
        <p:txBody>
          <a:bodyPr/>
          <a:lstStyle/>
          <a:p>
            <a:fld id="{8851CFED-F1F0-4481-9334-9607F33B74A3}" type="slidenum">
              <a:t>5</a:t>
            </a:fld>
            <a:endParaRPr lang="en-US"/>
          </a:p>
        </p:txBody>
      </p:sp>
    </p:spTree>
    <p:extLst>
      <p:ext uri="{BB962C8B-B14F-4D97-AF65-F5344CB8AC3E}">
        <p14:creationId xmlns:p14="http://schemas.microsoft.com/office/powerpoint/2010/main" val="3587545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Phase 3 addresses one of the most complex but essential aspects of the transformation: integrating legacy vehicles and historical data into the modern change platform. Many organizations struggle with a split landscape where new products benefit from advanced tools, while older platforms continue to rely on outdated processes. This phase ensures that legacy vehicles are brought into the same governance and intelligence framework through Service BOM and lifecycle integration.
Service BOM integration enables a comprehensive view of how products are configured, serviced, and supported in the field. By linking change management directly to Service BOMs, the organization can assess not only design impact but also service, maintenance, and customer implications. Lifecycle integration further connects changes to different product stages, from development and production to service and end-of-life. This holistic perspective reduces the risk of unintended consequences and supports more informed decision-making.
Technically, Phase 3 often involves complex data harmonization and integration efforts. However, the business value is substantial. Legacy products gain the same level of visibility, control, and analytical rigor as newer ones, reducing operational silos. This phase also strengthens the data foundation required for AI-driven capabilities by expanding the breadth and historical depth of change-related data. Ultimately, Phase 3 ensures that the intelligent change platform is truly enterprise-wide rather than limited to select programs or future products.</a:t>
            </a:r>
          </a:p>
        </p:txBody>
      </p:sp>
      <p:sp>
        <p:nvSpPr>
          <p:cNvPr id="4" name="Slide Number Placeholder 3"/>
          <p:cNvSpPr>
            <a:spLocks noGrp="1"/>
          </p:cNvSpPr>
          <p:nvPr>
            <p:ph type="sldNum" sz="quarter" idx="5"/>
          </p:nvPr>
        </p:nvSpPr>
        <p:spPr/>
        <p:txBody>
          <a:bodyPr/>
          <a:lstStyle/>
          <a:p>
            <a:fld id="{8851CFED-F1F0-4481-9334-9607F33B74A3}" type="slidenum">
              <a:t>6</a:t>
            </a:fld>
            <a:endParaRPr lang="en-US"/>
          </a:p>
        </p:txBody>
      </p:sp>
    </p:spTree>
    <p:extLst>
      <p:ext uri="{BB962C8B-B14F-4D97-AF65-F5344CB8AC3E}">
        <p14:creationId xmlns:p14="http://schemas.microsoft.com/office/powerpoint/2010/main" val="759534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future state represents a paradigm shift from automated processes to an AI-driven intelligent change platform. In this state, the system does not merely execute predefined rules but actively assists users by generating insights, recommendations, and predictions. Auto impact analysis becomes a core capability, leveraging historical data, relationships, and patterns to identify downstream effects with a high degree of confidence. This allows teams to anticipate risks and trade-offs early in the change lifecycle rather than reacting after issues emerge.
Smart change creation further transforms user interaction with the platform. Instead of manually defining every aspect of a change, users are guided by AI-driven suggestions for affected items, workflows, approvals, and timing. Predictive insights enable scenario analysis, such as forecasting potential delays, cost implications, or quality risks associated with different change options. These capabilities elevate change management from an operational function to a strategic decision-support capability.
A critical outcome of this future state is the full decommissioning of iCreate. Its functionalities are not only replaced but significantly enhanced within the intelligent platform, reducing system complexity and maintenance overhead. More importantly, the organization achieves a unified, data-driven approach to change that scales with product complexity and business growth. The intelligent change platform becomes a competitive advantage, enabling faster innovation, higher quality, and more resilient operations across the entire product lifecycle.</a:t>
            </a:r>
          </a:p>
        </p:txBody>
      </p:sp>
      <p:sp>
        <p:nvSpPr>
          <p:cNvPr id="4" name="Slide Number Placeholder 3"/>
          <p:cNvSpPr>
            <a:spLocks noGrp="1"/>
          </p:cNvSpPr>
          <p:nvPr>
            <p:ph type="sldNum" sz="quarter" idx="5"/>
          </p:nvPr>
        </p:nvSpPr>
        <p:spPr/>
        <p:txBody>
          <a:bodyPr/>
          <a:lstStyle/>
          <a:p>
            <a:fld id="{8851CFED-F1F0-4481-9334-9607F33B74A3}" type="slidenum">
              <a:t>7</a:t>
            </a:fld>
            <a:endParaRPr lang="en-US"/>
          </a:p>
        </p:txBody>
      </p:sp>
    </p:spTree>
    <p:extLst>
      <p:ext uri="{BB962C8B-B14F-4D97-AF65-F5344CB8AC3E}">
        <p14:creationId xmlns:p14="http://schemas.microsoft.com/office/powerpoint/2010/main" val="12410812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6/1/2026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7313131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47568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6/1/2026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3330190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975776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6/1/2026</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452747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6/1/2026</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22526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6/1/2026</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4145282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6/1/2026</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59531083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6/1/2026</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7269969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4265309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84030173"/>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87849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94920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286866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09084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4670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233544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9221310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593984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6/1/2026</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8707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6/1/2026</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397612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59360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6/1/2026</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0730650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64407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6/1/2026</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061672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6/1/2026</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7459423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6/1/2026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49948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6141808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6/1/2026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083257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6/1/2026</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3391510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6/1/2026</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654243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6/1/2026</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27240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6/1/2026</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4683316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6/1/2026</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47320876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986023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103506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980129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6/1/2026</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930160607"/>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3416620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6/1/2026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626533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6/1/2026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420155432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6/1/2026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0175029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6/1/2026</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427172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6/1/2026</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042902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6/1/2026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365636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6/1/2026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834489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6/1/2026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9032684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5186210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6/1/2026</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03410511"/>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6/1/2026</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6151935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6/1/2026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378513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70AF-9C3D-477A-07B8-A4B28B61E186}"/>
              </a:ext>
            </a:extLst>
          </p:cNvPr>
          <p:cNvSpPr>
            <a:spLocks noGrp="1"/>
          </p:cNvSpPr>
          <p:nvPr>
            <p:ph type="ctrTitle"/>
          </p:nvPr>
        </p:nvSpPr>
        <p:spPr>
          <a:xfrm>
            <a:off x="612648" y="429768"/>
            <a:ext cx="9336024" cy="3776472"/>
          </a:xfrm>
        </p:spPr>
        <p:txBody>
          <a:bodyPr anchor="b">
            <a:normAutofit/>
          </a:bodyPr>
          <a:lstStyle/>
          <a:p>
            <a:r>
              <a:rPr lang="en-US"/>
              <a:t>Evolution to an AI-Driven Intelligent Change Platform</a:t>
            </a:r>
          </a:p>
        </p:txBody>
      </p:sp>
      <p:sp>
        <p:nvSpPr>
          <p:cNvPr id="3" name="Subtitle 2">
            <a:extLst>
              <a:ext uri="{FF2B5EF4-FFF2-40B4-BE49-F238E27FC236}">
                <a16:creationId xmlns:a16="http://schemas.microsoft.com/office/drawing/2014/main" id="{EB64011D-49EF-0998-9354-98ECD0DF756B}"/>
              </a:ext>
            </a:extLst>
          </p:cNvPr>
          <p:cNvSpPr>
            <a:spLocks noGrp="1"/>
          </p:cNvSpPr>
          <p:nvPr>
            <p:ph type="subTitle" idx="1"/>
          </p:nvPr>
        </p:nvSpPr>
        <p:spPr>
          <a:xfrm>
            <a:off x="612648" y="4663440"/>
            <a:ext cx="6903720" cy="1344168"/>
          </a:xfrm>
        </p:spPr>
        <p:txBody>
          <a:bodyPr anchor="t">
            <a:normAutofit/>
          </a:bodyPr>
          <a:lstStyle/>
          <a:p>
            <a:r>
              <a:rPr lang="en-US"/>
              <a:t>Advancing innovation through smart automated solutions</a:t>
            </a:r>
          </a:p>
        </p:txBody>
      </p:sp>
    </p:spTree>
    <p:extLst>
      <p:ext uri="{BB962C8B-B14F-4D97-AF65-F5344CB8AC3E}">
        <p14:creationId xmlns:p14="http://schemas.microsoft.com/office/powerpoint/2010/main" val="360304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B0590-AC38-8319-4989-B2B443A15B25}"/>
              </a:ext>
            </a:extLst>
          </p:cNvPr>
          <p:cNvSpPr>
            <a:spLocks noGrp="1"/>
          </p:cNvSpPr>
          <p:nvPr>
            <p:ph type="title"/>
          </p:nvPr>
        </p:nvSpPr>
        <p:spPr>
          <a:xfrm>
            <a:off x="612648" y="2093976"/>
            <a:ext cx="8229600" cy="4178808"/>
          </a:xfrm>
        </p:spPr>
        <p:txBody>
          <a:bodyPr anchor="b">
            <a:normAutofit/>
          </a:bodyPr>
          <a:lstStyle/>
          <a:p>
            <a:r>
              <a:rPr lang="en-US"/>
              <a:t>Change Platform Transformation Roadmap</a:t>
            </a:r>
          </a:p>
        </p:txBody>
      </p:sp>
    </p:spTree>
    <p:extLst>
      <p:ext uri="{BB962C8B-B14F-4D97-AF65-F5344CB8AC3E}">
        <p14:creationId xmlns:p14="http://schemas.microsoft.com/office/powerpoint/2010/main" val="39805314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42F24-98AB-2107-BBD9-31E0E81C534A}"/>
              </a:ext>
            </a:extLst>
          </p:cNvPr>
          <p:cNvSpPr>
            <a:spLocks noGrp="1"/>
          </p:cNvSpPr>
          <p:nvPr>
            <p:ph type="title"/>
          </p:nvPr>
        </p:nvSpPr>
        <p:spPr>
          <a:xfrm>
            <a:off x="612648" y="502920"/>
            <a:ext cx="4669536" cy="1453896"/>
          </a:xfrm>
        </p:spPr>
        <p:txBody>
          <a:bodyPr anchor="t">
            <a:normAutofit/>
          </a:bodyPr>
          <a:lstStyle/>
          <a:p>
            <a:r>
              <a:rPr lang="en-US"/>
              <a:t>Transformation Journey Overview: From Manual to Intelligent</a:t>
            </a:r>
          </a:p>
        </p:txBody>
      </p:sp>
      <p:pic>
        <p:nvPicPr>
          <p:cNvPr id="5" name="Content Placeholder 4" descr="Scientists examines DNA models in modern Neurological Research Laboratory. Touch screens. Wearing clean suit and protective mask">
            <a:extLst>
              <a:ext uri="{FF2B5EF4-FFF2-40B4-BE49-F238E27FC236}">
                <a16:creationId xmlns:a16="http://schemas.microsoft.com/office/drawing/2014/main" id="{D83EED57-8E71-4C47-91C3-1B165014A58E}"/>
              </a:ext>
            </a:extLst>
          </p:cNvPr>
          <p:cNvPicPr>
            <a:picLocks noGrp="1" noChangeAspect="1"/>
          </p:cNvPicPr>
          <p:nvPr>
            <p:ph type="pic" sz="quarter" idx="15"/>
          </p:nvPr>
        </p:nvPicPr>
        <p:blipFill>
          <a:blip r:embed="rId3"/>
          <a:srcRect l="31575" r="3161"/>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1BBA7975-3F7A-D55A-00C4-B745D35AFFD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Current Challenges</a:t>
            </a:r>
          </a:p>
          <a:p>
            <a:pPr marL="0" lvl="1" indent="0">
              <a:buFont typeface="Arial" panose="020B0604020202020204" pitchFamily="34" charset="0"/>
              <a:buNone/>
            </a:pPr>
            <a:r>
              <a:rPr lang="en-US"/>
              <a:t>Manual efforts and platform duplication cause inefficiencies, longer cycle times, and higher error risks.</a:t>
            </a:r>
          </a:p>
          <a:p>
            <a:pPr marL="0" indent="0">
              <a:spcBef>
                <a:spcPts val="2500"/>
              </a:spcBef>
              <a:buFont typeface="Arial" panose="020B0604020202020204" pitchFamily="34" charset="0"/>
              <a:buNone/>
            </a:pPr>
            <a:r>
              <a:rPr lang="en-US" b="1"/>
              <a:t>Phase One: Transparency and Control</a:t>
            </a:r>
          </a:p>
          <a:p>
            <a:pPr marL="0" lvl="1" indent="0">
              <a:buFont typeface="Arial" panose="020B0604020202020204" pitchFamily="34" charset="0"/>
              <a:buNone/>
            </a:pPr>
            <a:r>
              <a:rPr lang="en-US"/>
              <a:t>Introduce dashboards, automation, and impact analysis to enhance visibility and reduce manual tasks.</a:t>
            </a:r>
          </a:p>
          <a:p>
            <a:pPr marL="0" indent="0">
              <a:spcBef>
                <a:spcPts val="2500"/>
              </a:spcBef>
              <a:buFont typeface="Arial" panose="020B0604020202020204" pitchFamily="34" charset="0"/>
              <a:buNone/>
            </a:pPr>
            <a:r>
              <a:rPr lang="en-US" b="1"/>
              <a:t>Phase Two: Standardized Workflows</a:t>
            </a:r>
          </a:p>
          <a:p>
            <a:pPr marL="0" lvl="1" indent="0">
              <a:buFont typeface="Arial" panose="020B0604020202020204" pitchFamily="34" charset="0"/>
              <a:buNone/>
            </a:pPr>
            <a:r>
              <a:rPr lang="en-US"/>
              <a:t>Implement reusable workflows and event triggers for scalable, repeatable, and responsive change management.</a:t>
            </a:r>
          </a:p>
          <a:p>
            <a:pPr marL="0" indent="0">
              <a:spcBef>
                <a:spcPts val="2500"/>
              </a:spcBef>
              <a:buFont typeface="Arial" panose="020B0604020202020204" pitchFamily="34" charset="0"/>
              <a:buNone/>
            </a:pPr>
            <a:r>
              <a:rPr lang="en-US" b="1"/>
              <a:t>Future State: AI-Driven Platform</a:t>
            </a:r>
          </a:p>
          <a:p>
            <a:pPr marL="0" lvl="1" indent="0">
              <a:buFont typeface="Arial" panose="020B0604020202020204" pitchFamily="34" charset="0"/>
              <a:buNone/>
            </a:pPr>
            <a:r>
              <a:rPr lang="en-US"/>
              <a:t>AI enables automatic impact analysis, smart change execution, and predictive insights to optimize transformation.</a:t>
            </a:r>
          </a:p>
        </p:txBody>
      </p:sp>
    </p:spTree>
    <p:extLst>
      <p:ext uri="{BB962C8B-B14F-4D97-AF65-F5344CB8AC3E}">
        <p14:creationId xmlns:p14="http://schemas.microsoft.com/office/powerpoint/2010/main" val="9720637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EAB5C-8B6F-4F28-FF57-EF50394726EB}"/>
              </a:ext>
            </a:extLst>
          </p:cNvPr>
          <p:cNvSpPr>
            <a:spLocks noGrp="1"/>
          </p:cNvSpPr>
          <p:nvPr>
            <p:ph type="title"/>
          </p:nvPr>
        </p:nvSpPr>
        <p:spPr>
          <a:xfrm>
            <a:off x="612648" y="502920"/>
            <a:ext cx="4669536" cy="1453896"/>
          </a:xfrm>
        </p:spPr>
        <p:txBody>
          <a:bodyPr anchor="t">
            <a:normAutofit/>
          </a:bodyPr>
          <a:lstStyle/>
          <a:p>
            <a:r>
              <a:rPr lang="en-US"/>
              <a:t>Current State: Manual, iCreate-Driven, and Duplicative</a:t>
            </a:r>
          </a:p>
        </p:txBody>
      </p:sp>
      <p:pic>
        <p:nvPicPr>
          <p:cNvPr id="5" name="Content Placeholder 4" descr="glass cubes on white background.">
            <a:extLst>
              <a:ext uri="{FF2B5EF4-FFF2-40B4-BE49-F238E27FC236}">
                <a16:creationId xmlns:a16="http://schemas.microsoft.com/office/drawing/2014/main" id="{C1C8BABC-6A02-45EF-9A8F-87A96203D469}"/>
              </a:ext>
            </a:extLst>
          </p:cNvPr>
          <p:cNvPicPr>
            <a:picLocks noGrp="1" noChangeAspect="1"/>
          </p:cNvPicPr>
          <p:nvPr>
            <p:ph type="pic" sz="quarter" idx="15"/>
          </p:nvPr>
        </p:nvPicPr>
        <p:blipFill>
          <a:blip r:embed="rId3"/>
          <a:srcRect r="12979"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BB4AF185-5AE2-6D0F-1C73-92177D45568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Manual and Fragmented Processes</a:t>
            </a:r>
          </a:p>
          <a:p>
            <a:pPr marL="0" lvl="1" indent="0">
              <a:buFont typeface="Arial" panose="020B0604020202020204" pitchFamily="34" charset="0"/>
              <a:buNone/>
            </a:pPr>
            <a:r>
              <a:rPr lang="en-US"/>
              <a:t>Current change management relies heavily on manual actions and fragmented data across multiple tools, reducing efficiency and visibility.</a:t>
            </a:r>
          </a:p>
          <a:p>
            <a:pPr marL="0" indent="0">
              <a:spcBef>
                <a:spcPts val="2500"/>
              </a:spcBef>
              <a:buFont typeface="Arial" panose="020B0604020202020204" pitchFamily="34" charset="0"/>
              <a:buNone/>
            </a:pPr>
            <a:r>
              <a:rPr lang="en-US" b="1"/>
              <a:t>Duplicative Efforts and Inconsistency</a:t>
            </a:r>
          </a:p>
          <a:p>
            <a:pPr marL="0" lvl="1" indent="0">
              <a:buFont typeface="Arial" panose="020B0604020202020204" pitchFamily="34" charset="0"/>
              <a:buNone/>
            </a:pPr>
            <a:r>
              <a:rPr lang="en-US"/>
              <a:t>Engineers and coordinators duplicate evaluations in separate tools, causing wasted effort, inconsistent outcomes, and longer turnaround times.</a:t>
            </a:r>
          </a:p>
          <a:p>
            <a:pPr marL="0" indent="0">
              <a:spcBef>
                <a:spcPts val="2500"/>
              </a:spcBef>
              <a:buFont typeface="Arial" panose="020B0604020202020204" pitchFamily="34" charset="0"/>
              <a:buNone/>
            </a:pPr>
            <a:r>
              <a:rPr lang="en-US" b="1"/>
              <a:t>Lack of Standardized Workflows</a:t>
            </a:r>
          </a:p>
          <a:p>
            <a:pPr marL="0" lvl="1" indent="0">
              <a:buFont typeface="Arial" panose="020B0604020202020204" pitchFamily="34" charset="0"/>
              <a:buNone/>
            </a:pPr>
            <a:r>
              <a:rPr lang="en-US"/>
              <a:t>Variation in process execution across teams increases operational risk and introduces errors during manual handoffs.</a:t>
            </a:r>
          </a:p>
          <a:p>
            <a:pPr marL="0" indent="0">
              <a:spcBef>
                <a:spcPts val="2500"/>
              </a:spcBef>
              <a:buFont typeface="Arial" panose="020B0604020202020204" pitchFamily="34" charset="0"/>
              <a:buNone/>
            </a:pPr>
            <a:r>
              <a:rPr lang="en-US" b="1"/>
              <a:t>Limited Innovation and Reactive Reporting</a:t>
            </a:r>
          </a:p>
          <a:p>
            <a:pPr marL="0" lvl="1" indent="0">
              <a:buFont typeface="Arial" panose="020B0604020202020204" pitchFamily="34" charset="0"/>
              <a:buNone/>
            </a:pPr>
            <a:r>
              <a:rPr lang="en-US"/>
              <a:t>Dependence on existing systems limits innovation and results in retrospective reporting, causing delays and rework across functions.</a:t>
            </a:r>
          </a:p>
        </p:txBody>
      </p:sp>
    </p:spTree>
    <p:extLst>
      <p:ext uri="{BB962C8B-B14F-4D97-AF65-F5344CB8AC3E}">
        <p14:creationId xmlns:p14="http://schemas.microsoft.com/office/powerpoint/2010/main" val="2993016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9D1C1-0105-F7AC-BC46-DC4A9C61398A}"/>
              </a:ext>
            </a:extLst>
          </p:cNvPr>
          <p:cNvSpPr>
            <a:spLocks noGrp="1"/>
          </p:cNvSpPr>
          <p:nvPr>
            <p:ph type="title"/>
          </p:nvPr>
        </p:nvSpPr>
        <p:spPr>
          <a:xfrm>
            <a:off x="612648" y="502920"/>
            <a:ext cx="4669536" cy="1453896"/>
          </a:xfrm>
        </p:spPr>
        <p:txBody>
          <a:bodyPr anchor="t">
            <a:normAutofit/>
          </a:bodyPr>
          <a:lstStyle/>
          <a:p>
            <a:r>
              <a:rPr lang="en-US" sz="2400"/>
              <a:t>Phase 1 (L460 – 2026): Dashboarding, Initial Automation, and Impact Analysis</a:t>
            </a:r>
          </a:p>
        </p:txBody>
      </p:sp>
      <p:pic>
        <p:nvPicPr>
          <p:cNvPr id="5" name="Content Placeholder 4" descr="Scientists examines DNA models in modern Neurological Research Laboratory. Touch screens. Wearing clean suit and protective mask">
            <a:extLst>
              <a:ext uri="{FF2B5EF4-FFF2-40B4-BE49-F238E27FC236}">
                <a16:creationId xmlns:a16="http://schemas.microsoft.com/office/drawing/2014/main" id="{76E42638-214F-4802-9136-F385A4245FC0}"/>
              </a:ext>
            </a:extLst>
          </p:cNvPr>
          <p:cNvPicPr>
            <a:picLocks noGrp="1" noChangeAspect="1"/>
          </p:cNvPicPr>
          <p:nvPr>
            <p:ph type="pic" sz="quarter" idx="15"/>
          </p:nvPr>
        </p:nvPicPr>
        <p:blipFill>
          <a:blip r:embed="rId3"/>
          <a:stretch/>
        </p:blipFill>
        <p:spPr>
          <a:xfrm>
            <a:off x="612648" y="2992914"/>
            <a:ext cx="4669536" cy="2626614"/>
          </a:xfrm>
        </p:spPr>
      </p:pic>
      <p:sp>
        <p:nvSpPr>
          <p:cNvPr id="4" name="Content Placeholder 3">
            <a:extLst>
              <a:ext uri="{FF2B5EF4-FFF2-40B4-BE49-F238E27FC236}">
                <a16:creationId xmlns:a16="http://schemas.microsoft.com/office/drawing/2014/main" id="{A811AAB5-567E-3D83-5C4D-8B3E5E73A9C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Dashboarding for Visibility</a:t>
            </a:r>
          </a:p>
          <a:p>
            <a:pPr marL="0" lvl="1" indent="0">
              <a:buFont typeface="Arial" panose="020B0604020202020204" pitchFamily="34" charset="0"/>
              <a:buNone/>
            </a:pPr>
            <a:r>
              <a:rPr lang="en-US"/>
              <a:t>Dashboards provide consolidated, near-real-time views of change activities and key performance metrics.</a:t>
            </a:r>
          </a:p>
          <a:p>
            <a:pPr marL="0" indent="0">
              <a:spcBef>
                <a:spcPts val="2500"/>
              </a:spcBef>
              <a:buFont typeface="Arial" panose="020B0604020202020204" pitchFamily="34" charset="0"/>
              <a:buNone/>
            </a:pPr>
            <a:r>
              <a:rPr lang="en-US" b="1"/>
              <a:t>Initial Automation Tasks</a:t>
            </a:r>
          </a:p>
          <a:p>
            <a:pPr marL="0" lvl="1" indent="0">
              <a:buFont typeface="Arial" panose="020B0604020202020204" pitchFamily="34" charset="0"/>
              <a:buNone/>
            </a:pPr>
            <a:r>
              <a:rPr lang="en-US"/>
              <a:t>Automation targets repetitive, low-complexity tasks to reduce errors and free expert resources.</a:t>
            </a:r>
          </a:p>
          <a:p>
            <a:pPr marL="0" indent="0">
              <a:spcBef>
                <a:spcPts val="2500"/>
              </a:spcBef>
              <a:buFont typeface="Arial" panose="020B0604020202020204" pitchFamily="34" charset="0"/>
              <a:buNone/>
            </a:pPr>
            <a:r>
              <a:rPr lang="en-US" b="1"/>
              <a:t>Structured Impact Analysis</a:t>
            </a:r>
          </a:p>
          <a:p>
            <a:pPr marL="0" lvl="1" indent="0">
              <a:buFont typeface="Arial" panose="020B0604020202020204" pitchFamily="34" charset="0"/>
              <a:buNone/>
            </a:pPr>
            <a:r>
              <a:rPr lang="en-US"/>
              <a:t>Impact analysis assesses affected components to guide change management with consistent data models.</a:t>
            </a:r>
          </a:p>
          <a:p>
            <a:pPr marL="0" indent="0">
              <a:spcBef>
                <a:spcPts val="2500"/>
              </a:spcBef>
              <a:buFont typeface="Arial" panose="020B0604020202020204" pitchFamily="34" charset="0"/>
              <a:buNone/>
            </a:pPr>
            <a:r>
              <a:rPr lang="en-US" b="1"/>
              <a:t>Change Management and Adoption</a:t>
            </a:r>
          </a:p>
          <a:p>
            <a:pPr marL="0" lvl="1" indent="0">
              <a:buFont typeface="Arial" panose="020B0604020202020204" pitchFamily="34" charset="0"/>
              <a:buNone/>
            </a:pPr>
            <a:r>
              <a:rPr lang="en-US"/>
              <a:t>Early benefits build user confidence and momentum for deeper transformation in future phases.</a:t>
            </a:r>
          </a:p>
        </p:txBody>
      </p:sp>
    </p:spTree>
    <p:extLst>
      <p:ext uri="{BB962C8B-B14F-4D97-AF65-F5344CB8AC3E}">
        <p14:creationId xmlns:p14="http://schemas.microsoft.com/office/powerpoint/2010/main" val="20827448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52445-7854-7392-0219-B5E7B7A3E1D3}"/>
              </a:ext>
            </a:extLst>
          </p:cNvPr>
          <p:cNvSpPr>
            <a:spLocks noGrp="1"/>
          </p:cNvSpPr>
          <p:nvPr>
            <p:ph type="title"/>
          </p:nvPr>
        </p:nvSpPr>
        <p:spPr>
          <a:xfrm>
            <a:off x="612648" y="502920"/>
            <a:ext cx="4669536" cy="1453896"/>
          </a:xfrm>
        </p:spPr>
        <p:txBody>
          <a:bodyPr anchor="t">
            <a:normAutofit/>
          </a:bodyPr>
          <a:lstStyle/>
          <a:p>
            <a:r>
              <a:rPr lang="en-US"/>
              <a:t>Phase 3: Legacy Vehicles, Service BOM, and Lifecycle Integration</a:t>
            </a:r>
          </a:p>
        </p:txBody>
      </p:sp>
      <p:pic>
        <p:nvPicPr>
          <p:cNvPr id="5" name="Content Placeholder 4" descr="Biomedical engineering robot in a lab">
            <a:extLst>
              <a:ext uri="{FF2B5EF4-FFF2-40B4-BE49-F238E27FC236}">
                <a16:creationId xmlns:a16="http://schemas.microsoft.com/office/drawing/2014/main" id="{16F6E24B-64F3-4859-8A02-2CE89DAEE89B}"/>
              </a:ext>
            </a:extLst>
          </p:cNvPr>
          <p:cNvPicPr>
            <a:picLocks noGrp="1" noChangeAspect="1"/>
          </p:cNvPicPr>
          <p:nvPr>
            <p:ph type="pic" sz="quarter" idx="15"/>
          </p:nvPr>
        </p:nvPicPr>
        <p:blipFill>
          <a:blip r:embed="rId3"/>
          <a:srcRect l="1186" r="21366"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DD13DD5E-D630-DBF2-A1B4-CDF2D51C61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Legacy Vehicle Integration</a:t>
            </a:r>
          </a:p>
          <a:p>
            <a:pPr marL="0" lvl="1" indent="0">
              <a:buFont typeface="Arial" panose="020B0604020202020204" pitchFamily="34" charset="0"/>
              <a:buNone/>
            </a:pPr>
            <a:r>
              <a:rPr lang="en-US"/>
              <a:t>Phase 3 integrates legacy vehicles and historical data into modern change platforms to unify governance and intelligence.</a:t>
            </a:r>
          </a:p>
          <a:p>
            <a:pPr marL="0" indent="0">
              <a:spcBef>
                <a:spcPts val="2500"/>
              </a:spcBef>
              <a:buFont typeface="Arial" panose="020B0604020202020204" pitchFamily="34" charset="0"/>
              <a:buNone/>
            </a:pPr>
            <a:r>
              <a:rPr lang="en-US" b="1"/>
              <a:t>Service BOM Integration</a:t>
            </a:r>
          </a:p>
          <a:p>
            <a:pPr marL="0" lvl="1" indent="0">
              <a:buFont typeface="Arial" panose="020B0604020202020204" pitchFamily="34" charset="0"/>
              <a:buNone/>
            </a:pPr>
            <a:r>
              <a:rPr lang="en-US"/>
              <a:t>Integrating Service BOM provides comprehensive views of product configuration, servicing, and customer impacts.</a:t>
            </a:r>
          </a:p>
          <a:p>
            <a:pPr marL="0" indent="0">
              <a:spcBef>
                <a:spcPts val="2500"/>
              </a:spcBef>
              <a:buFont typeface="Arial" panose="020B0604020202020204" pitchFamily="34" charset="0"/>
              <a:buNone/>
            </a:pPr>
            <a:r>
              <a:rPr lang="en-US" b="1"/>
              <a:t>Lifecycle Integration</a:t>
            </a:r>
          </a:p>
          <a:p>
            <a:pPr marL="0" lvl="1" indent="0">
              <a:buFont typeface="Arial" panose="020B0604020202020204" pitchFamily="34" charset="0"/>
              <a:buNone/>
            </a:pPr>
            <a:r>
              <a:rPr lang="en-US"/>
              <a:t>Lifecycle integration connects product changes across development, production, service, and end-of-life stages.</a:t>
            </a:r>
          </a:p>
          <a:p>
            <a:pPr marL="0" indent="0">
              <a:spcBef>
                <a:spcPts val="2500"/>
              </a:spcBef>
              <a:buFont typeface="Arial" panose="020B0604020202020204" pitchFamily="34" charset="0"/>
              <a:buNone/>
            </a:pPr>
            <a:r>
              <a:rPr lang="en-US" b="1"/>
              <a:t>Business and Technical Value</a:t>
            </a:r>
          </a:p>
          <a:p>
            <a:pPr marL="0" lvl="1" indent="0">
              <a:buFont typeface="Arial" panose="020B0604020202020204" pitchFamily="34" charset="0"/>
              <a:buNone/>
            </a:pPr>
            <a:r>
              <a:rPr lang="en-US"/>
              <a:t>This phase reduces operational silos and enhances AI capabilities by expanding data depth and visibility enterprise-wide.</a:t>
            </a:r>
          </a:p>
        </p:txBody>
      </p:sp>
    </p:spTree>
    <p:extLst>
      <p:ext uri="{BB962C8B-B14F-4D97-AF65-F5344CB8AC3E}">
        <p14:creationId xmlns:p14="http://schemas.microsoft.com/office/powerpoint/2010/main" val="14523973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8D17A-9C14-E7DB-ADED-48DDD8CE1671}"/>
              </a:ext>
            </a:extLst>
          </p:cNvPr>
          <p:cNvSpPr>
            <a:spLocks noGrp="1"/>
          </p:cNvSpPr>
          <p:nvPr>
            <p:ph type="title"/>
          </p:nvPr>
        </p:nvSpPr>
        <p:spPr>
          <a:xfrm>
            <a:off x="612648" y="502920"/>
            <a:ext cx="4669536" cy="1453896"/>
          </a:xfrm>
        </p:spPr>
        <p:txBody>
          <a:bodyPr anchor="t">
            <a:normAutofit/>
          </a:bodyPr>
          <a:lstStyle/>
          <a:p>
            <a:r>
              <a:rPr lang="en-US"/>
              <a:t>Future State: AI-Driven Intelligent Change Platform</a:t>
            </a:r>
          </a:p>
        </p:txBody>
      </p:sp>
      <p:pic>
        <p:nvPicPr>
          <p:cNvPr id="5" name="Content Placeholder 4" descr="5G/6G and AI technology, Global communication network concept. 6G Business graph. Global business.">
            <a:extLst>
              <a:ext uri="{FF2B5EF4-FFF2-40B4-BE49-F238E27FC236}">
                <a16:creationId xmlns:a16="http://schemas.microsoft.com/office/drawing/2014/main" id="{0D058E08-0885-499A-9A1A-9355EB67E54E}"/>
              </a:ext>
            </a:extLst>
          </p:cNvPr>
          <p:cNvPicPr>
            <a:picLocks noGrp="1" noChangeAspect="1"/>
          </p:cNvPicPr>
          <p:nvPr>
            <p:ph type="pic" sz="quarter" idx="15"/>
          </p:nvPr>
        </p:nvPicPr>
        <p:blipFill>
          <a:blip r:embed="rId3"/>
          <a:srcRect l="34735"/>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144CE2CB-49E1-6385-1413-4683646220E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AI-Powered Insight Generation</a:t>
            </a:r>
          </a:p>
          <a:p>
            <a:pPr marL="0" lvl="1" indent="0">
              <a:buFont typeface="Arial" panose="020B0604020202020204" pitchFamily="34" charset="0"/>
              <a:buNone/>
            </a:pPr>
            <a:r>
              <a:rPr lang="en-US"/>
              <a:t>The platform actively assists users by generating insights, recommendations, and predictions beyond predefined rules.</a:t>
            </a:r>
          </a:p>
          <a:p>
            <a:pPr marL="0" indent="0">
              <a:spcBef>
                <a:spcPts val="2500"/>
              </a:spcBef>
              <a:buFont typeface="Arial" panose="020B0604020202020204" pitchFamily="34" charset="0"/>
              <a:buNone/>
            </a:pPr>
            <a:r>
              <a:rPr lang="en-US" b="1"/>
              <a:t>Auto Impact Analysis</a:t>
            </a:r>
          </a:p>
          <a:p>
            <a:pPr marL="0" lvl="1" indent="0">
              <a:buFont typeface="Arial" panose="020B0604020202020204" pitchFamily="34" charset="0"/>
              <a:buNone/>
            </a:pPr>
            <a:r>
              <a:rPr lang="en-US"/>
              <a:t>Utilizes historical data and patterns to identify downstream effects and anticipate risks early in the change lifecycle.</a:t>
            </a:r>
          </a:p>
          <a:p>
            <a:pPr marL="0" indent="0">
              <a:spcBef>
                <a:spcPts val="2500"/>
              </a:spcBef>
              <a:buFont typeface="Arial" panose="020B0604020202020204" pitchFamily="34" charset="0"/>
              <a:buNone/>
            </a:pPr>
            <a:r>
              <a:rPr lang="en-US" b="1"/>
              <a:t>Smart Change Creation</a:t>
            </a:r>
          </a:p>
          <a:p>
            <a:pPr marL="0" lvl="1" indent="0">
              <a:buFont typeface="Arial" panose="020B0604020202020204" pitchFamily="34" charset="0"/>
              <a:buNone/>
            </a:pPr>
            <a:r>
              <a:rPr lang="en-US"/>
              <a:t>AI-driven suggestions guide users on affected items, workflows, approvals, and timing to optimize change management.</a:t>
            </a:r>
          </a:p>
          <a:p>
            <a:pPr marL="0" indent="0">
              <a:spcBef>
                <a:spcPts val="2500"/>
              </a:spcBef>
              <a:buFont typeface="Arial" panose="020B0604020202020204" pitchFamily="34" charset="0"/>
              <a:buNone/>
            </a:pPr>
            <a:r>
              <a:rPr lang="en-US" b="1"/>
              <a:t>Unified Data-Driven Platform</a:t>
            </a:r>
          </a:p>
          <a:p>
            <a:pPr marL="0" lvl="1" indent="0">
              <a:buFont typeface="Arial" panose="020B0604020202020204" pitchFamily="34" charset="0"/>
              <a:buNone/>
            </a:pPr>
            <a:r>
              <a:rPr lang="en-US"/>
              <a:t>Decommissioning legacy systems to achieve a scalable, intelligent platform that supports strategic decisions and growth.</a:t>
            </a:r>
          </a:p>
        </p:txBody>
      </p:sp>
    </p:spTree>
    <p:extLst>
      <p:ext uri="{BB962C8B-B14F-4D97-AF65-F5344CB8AC3E}">
        <p14:creationId xmlns:p14="http://schemas.microsoft.com/office/powerpoint/2010/main" val="3527486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2010</Words>
  <Application>Microsoft Office PowerPoint</Application>
  <PresentationFormat>Widescreen</PresentationFormat>
  <Paragraphs>62</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Light</vt:lpstr>
      <vt:lpstr>Arial</vt:lpstr>
      <vt:lpstr>Calibri</vt:lpstr>
      <vt:lpstr>Chroma</vt:lpstr>
      <vt:lpstr>Evolution to an AI-Driven Intelligent Change Platform</vt:lpstr>
      <vt:lpstr>Change Platform Transformation Roadmap</vt:lpstr>
      <vt:lpstr>Transformation Journey Overview: From Manual to Intelligent</vt:lpstr>
      <vt:lpstr>Current State: Manual, iCreate-Driven, and Duplicative</vt:lpstr>
      <vt:lpstr>Phase 1 (L460 – 2026): Dashboarding, Initial Automation, and Impact Analysis</vt:lpstr>
      <vt:lpstr>Phase 3: Legacy Vehicles, Service BOM, and Lifecycle Integration</vt:lpstr>
      <vt:lpstr>Future State: AI-Driven Intelligent Change Platform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SGUPTA76@jaguarlandrover.com</dc:creator>
  <cp:lastModifiedBy>Shweta Gupta</cp:lastModifiedBy>
  <cp:revision>1</cp:revision>
  <dcterms:modified xsi:type="dcterms:W3CDTF">2026-06-01T07:02:01Z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89eaf13-f528-470e-bf6b-38b666617431_Enabled">
    <vt:lpwstr>true</vt:lpwstr>
  </property>
  <property fmtid="{D5CDD505-2E9C-101B-9397-08002B2CF9AE}" pid="3" name="MSIP_Label_289eaf13-f528-470e-bf6b-38b666617431_SetDate">
    <vt:lpwstr>2026-06-01T07:02:01Z</vt:lpwstr>
  </property>
  <property fmtid="{D5CDD505-2E9C-101B-9397-08002B2CF9AE}" pid="4" name="MSIP_Label_289eaf13-f528-470e-bf6b-38b666617431_Method">
    <vt:lpwstr>Standard</vt:lpwstr>
  </property>
  <property fmtid="{D5CDD505-2E9C-101B-9397-08002B2CF9AE}" pid="5" name="MSIP_Label_289eaf13-f528-470e-bf6b-38b666617431_Name">
    <vt:lpwstr>Proprietary</vt:lpwstr>
  </property>
  <property fmtid="{D5CDD505-2E9C-101B-9397-08002B2CF9AE}" pid="6" name="MSIP_Label_289eaf13-f528-470e-bf6b-38b666617431_SiteId">
    <vt:lpwstr>4c087f80-1e07-4f72-9e41-d7d9748d0f4c</vt:lpwstr>
  </property>
  <property fmtid="{D5CDD505-2E9C-101B-9397-08002B2CF9AE}" pid="7" name="MSIP_Label_289eaf13-f528-470e-bf6b-38b666617431_ActionId">
    <vt:lpwstr>5c4b0ea3-711e-47dd-b20d-3d8ddc78158f</vt:lpwstr>
  </property>
  <property fmtid="{D5CDD505-2E9C-101B-9397-08002B2CF9AE}" pid="8" name="MSIP_Label_289eaf13-f528-470e-bf6b-38b666617431_ContentBits">
    <vt:lpwstr>0</vt:lpwstr>
  </property>
  <property fmtid="{D5CDD505-2E9C-101B-9397-08002B2CF9AE}" pid="9" name="MSIP_Label_289eaf13-f528-470e-bf6b-38b666617431_Tag">
    <vt:lpwstr>10, 3, 0, 1</vt:lpwstr>
  </property>
</Properties>
</file>