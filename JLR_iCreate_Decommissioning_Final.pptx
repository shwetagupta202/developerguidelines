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149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43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457200"/>
            <a:ext cx="3108960" cy="3108960"/>
          </a:xfrm>
          <a:prstGeom prst="ellipse">
            <a:avLst/>
          </a:prstGeom>
          <a:solidFill>
            <a:srgbClr val="0077A8">
              <a:alpha val="12000"/>
            </a:srgbClr>
          </a:solidFill>
          <a:ln w="10160">
            <a:solidFill>
              <a:srgbClr val="00A8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97280"/>
            <a:ext cx="1645920" cy="1645920"/>
          </a:xfrm>
          <a:prstGeom prst="ellipse">
            <a:avLst/>
          </a:prstGeom>
          <a:solidFill>
            <a:srgbClr val="C8962E">
              <a:alpha val="18000"/>
            </a:srgbClr>
          </a:solidFill>
          <a:ln w="10160">
            <a:solidFill>
              <a:srgbClr val="E8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017520"/>
            <a:ext cx="2377440" cy="2377440"/>
          </a:xfrm>
          <a:prstGeom prst="ellipse">
            <a:avLst/>
          </a:prstGeom>
          <a:solidFill>
            <a:srgbClr val="0077A8">
              <a:alpha val="10000"/>
            </a:srgbClr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82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LAND ROVER  •  STRATEGIC PROGRAMME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62179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programme to transition JLR's 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exclusively onto 3DEXPERIENCE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duplication, fragmentation and legacy overhead.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913632"/>
            <a:ext cx="141732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9593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" y="4352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47672" y="3913632"/>
            <a:ext cx="141732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47672" y="39593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47672" y="4352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Effort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75304" y="3913632"/>
            <a:ext cx="1417320" cy="86868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75304" y="39593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75304" y="4352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 Plan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864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Tata Technologies  • 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7840" y="201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566928"/>
            <a:ext cx="256032" cy="25603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566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25312" y="6035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1179576"/>
            <a:ext cx="256032" cy="25603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1179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25312" y="12161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iCreate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792224"/>
            <a:ext cx="256032" cy="25603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25312" y="18288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Decommission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2404872"/>
            <a:ext cx="256032" cy="25603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25312" y="24414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Architecture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3017520"/>
            <a:ext cx="256032" cy="25603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25312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Highlighted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3630168"/>
            <a:ext cx="256032" cy="25603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25312" y="36667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Architecture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4242816"/>
            <a:ext cx="256032" cy="25603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42" name="Text 40"/>
          <p:cNvSpPr/>
          <p:nvPr/>
        </p:nvSpPr>
        <p:spPr>
          <a:xfrm>
            <a:off x="5577840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25312" y="42793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Roadmap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JLR's fragmented change management landscape — why transformation is essential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5669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JLR manages engineering change across 8+ disconnected legacy systems. Every change requires parallel data entry in both iCreate AND 3DEXPERIENCE — causing inconsistency, rework and excessive maintenance overhead.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4206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55648"/>
            <a:ext cx="50292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8836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18470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Fragmented Systems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" y="210312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" y="23042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Engineer raising a P-Release must create a CO/CA in 3DX AND separately enter part data in iCreate. CRIDX, WERS, NGR/REDBOOK, eTracker/PACN and ED&amp;T Sheets all require separate manual updates — no single source of truth.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" y="2944368"/>
            <a:ext cx="3886200" cy="146304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9535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Avg. 3–4 hrs per change duplicated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90872" y="1755648"/>
            <a:ext cx="4206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90872" y="1755648"/>
            <a:ext cx="50292" cy="13716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883664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66944" y="18470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Manual Work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266944" y="210312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855464" y="23042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ERS role must create a WERS concern, update the concern post-approval in iCreate, move concern P→A status, lead the AC in WERS, then separately ensure NGR/REDBOOK reflects approved cost — all for the same change already in 3DX.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855464" y="2944368"/>
            <a:ext cx="3886200" cy="146304"/>
          </a:xfrm>
          <a:prstGeom prst="rect">
            <a:avLst/>
          </a:prstGeom>
          <a:solidFill>
            <a:srgbClr val="E67E22">
              <a:alpha val="12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892040" y="295351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~40% of engineer time on data re-entry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320040" y="3200400"/>
            <a:ext cx="4206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0040" y="3200400"/>
            <a:ext cx="50292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328416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96112" y="32918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&amp; Version Drift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96112" y="354787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84632" y="37490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iCreate is in 'Compile' but 3DX CO/CA is not yet updated, downstream teams (Finance, VEM, MP&amp;L) work from conflicting data — causing last-minute rework loops, CPE re-approvals and missed build event targets.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84632" y="4389120"/>
            <a:ext cx="3886200" cy="146304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521208" y="4398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Prod CRs raised due to data mismatches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4690872" y="3200400"/>
            <a:ext cx="4206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90872" y="3200400"/>
            <a:ext cx="50292" cy="13716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328416"/>
            <a:ext cx="310896" cy="31089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66944" y="32918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Dual Infrastructure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266944" y="354787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4855464" y="37490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V3 required full bespoke redevelopment to add 3 rework loops (Compile Admin–Buyer, Request→Revise, PGL→Request). Every JLR process change demands parallel dev in both iCreate AND 3DX — doubling cost and calendar time.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855464" y="4389120"/>
            <a:ext cx="3886200" cy="146304"/>
          </a:xfrm>
          <a:prstGeom prst="rect">
            <a:avLst/>
          </a:prstGeom>
          <a:solidFill>
            <a:srgbClr val="E67E22">
              <a:alpha val="12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4892040" y="43982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£xM annual maintenance + dual dev cost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4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iCreate was built to consolidate CRIDX, PACN, EWIS &amp; WERS — but 3DEXPERIENCE now natively handles all these workflows. Running both creates permanent duplication.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What is iCreate?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JLR's bespoke cross-functional engineering change platform — built to unify CRIDX, PACN, EWIS &amp; WERS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" y="1408176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is JLR's bespoke application that combines CRIDX, PACN, EWIS and WERS into a single environment to initiate, review, evaluate and approve engineering change within a structured multi-stakeholder workflow.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PHASE WORKFLOW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" y="2231136"/>
            <a:ext cx="896112" cy="384048"/>
          </a:xfrm>
          <a:prstGeom prst="roundRect">
            <a:avLst>
              <a:gd name="adj" fmla="val 9524"/>
            </a:avLst>
          </a:prstGeom>
          <a:solidFill>
            <a:srgbClr val="6B7C9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231136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62432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243584" y="2386584"/>
            <a:ext cx="109728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Shape 11"/>
          <p:cNvSpPr/>
          <p:nvPr/>
        </p:nvSpPr>
        <p:spPr>
          <a:xfrm>
            <a:off x="1353312" y="2231136"/>
            <a:ext cx="896112" cy="384048"/>
          </a:xfrm>
          <a:prstGeom prst="roundRect">
            <a:avLst>
              <a:gd name="adj" fmla="val 9524"/>
            </a:avLst>
          </a:prstGeom>
          <a:solidFill>
            <a:srgbClr val="0077A8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2231136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53312" y="262432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249424" y="2386584"/>
            <a:ext cx="109728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2359152" y="2231136"/>
            <a:ext cx="896112" cy="384048"/>
          </a:xfrm>
          <a:prstGeom prst="roundRect">
            <a:avLst>
              <a:gd name="adj" fmla="val 9524"/>
            </a:avLst>
          </a:prstGeom>
          <a:solidFill>
            <a:srgbClr val="2874A6"/>
          </a:solidFill>
          <a:ln/>
        </p:spPr>
      </p:sp>
      <p:sp>
        <p:nvSpPr>
          <p:cNvPr id="18" name="Text 16"/>
          <p:cNvSpPr/>
          <p:nvPr/>
        </p:nvSpPr>
        <p:spPr>
          <a:xfrm>
            <a:off x="2359152" y="2231136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59152" y="262432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Lead / ERS / Buyer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255264" y="2386584"/>
            <a:ext cx="109728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Shape 19"/>
          <p:cNvSpPr/>
          <p:nvPr/>
        </p:nvSpPr>
        <p:spPr>
          <a:xfrm>
            <a:off x="3364992" y="2231136"/>
            <a:ext cx="896112" cy="384048"/>
          </a:xfrm>
          <a:prstGeom prst="roundRect">
            <a:avLst>
              <a:gd name="adj" fmla="val 9524"/>
            </a:avLst>
          </a:prstGeom>
          <a:solidFill>
            <a:srgbClr val="C8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2231136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64992" y="262432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+ Eng Approver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47472" y="2889504"/>
            <a:ext cx="896112" cy="384048"/>
          </a:xfrm>
          <a:prstGeom prst="roundRect">
            <a:avLst>
              <a:gd name="adj" fmla="val 9524"/>
            </a:avLst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288950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" y="328269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Finance/VEM/MP&amp;L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243584" y="3044952"/>
            <a:ext cx="109728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Shape 26"/>
          <p:cNvSpPr/>
          <p:nvPr/>
        </p:nvSpPr>
        <p:spPr>
          <a:xfrm>
            <a:off x="1353312" y="2889504"/>
            <a:ext cx="896112" cy="384048"/>
          </a:xfrm>
          <a:prstGeom prst="roundRect">
            <a:avLst>
              <a:gd name="adj" fmla="val 9524"/>
            </a:avLst>
          </a:prstGeom>
          <a:solidFill>
            <a:srgbClr val="1A7A4A"/>
          </a:solidFill>
          <a:ln/>
        </p:spPr>
      </p:sp>
      <p:sp>
        <p:nvSpPr>
          <p:cNvPr id="29" name="Text 27"/>
          <p:cNvSpPr/>
          <p:nvPr/>
        </p:nvSpPr>
        <p:spPr>
          <a:xfrm>
            <a:off x="1353312" y="288950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53312" y="328269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CPE/PGL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249424" y="3044952"/>
            <a:ext cx="109728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Shape 30"/>
          <p:cNvSpPr/>
          <p:nvPr/>
        </p:nvSpPr>
        <p:spPr>
          <a:xfrm>
            <a:off x="2359152" y="2889504"/>
            <a:ext cx="896112" cy="384048"/>
          </a:xfrm>
          <a:prstGeom prst="roundRect">
            <a:avLst>
              <a:gd name="adj" fmla="val 9524"/>
            </a:avLst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2359152" y="288950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59152" y="328269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+ Finance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255264" y="3044952"/>
            <a:ext cx="109728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Shape 34"/>
          <p:cNvSpPr/>
          <p:nvPr/>
        </p:nvSpPr>
        <p:spPr>
          <a:xfrm>
            <a:off x="3364992" y="2889504"/>
            <a:ext cx="896112" cy="384048"/>
          </a:xfrm>
          <a:prstGeom prst="roundRect">
            <a:avLst>
              <a:gd name="adj" fmla="val 9524"/>
            </a:avLst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3364992" y="288950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64992" y="328269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Complete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47472" y="3749040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3 Rework Loops: Compile→Revise • Request→Revise • PGL→Request (V3)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0040" y="398678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ROLES &amp; FUNCTIONS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4206240"/>
            <a:ext cx="713232" cy="621792"/>
          </a:xfrm>
          <a:prstGeom prst="roundRect">
            <a:avLst>
              <a:gd name="adj" fmla="val 5882"/>
            </a:avLst>
          </a:prstGeom>
          <a:solidFill>
            <a:srgbClr val="0077A8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" y="4224528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143000" y="4206240"/>
            <a:ext cx="713232" cy="621792"/>
          </a:xfrm>
          <a:prstGeom prst="roundRect">
            <a:avLst>
              <a:gd name="adj" fmla="val 5882"/>
            </a:avLst>
          </a:prstGeom>
          <a:solidFill>
            <a:srgbClr val="C8962E">
              <a:alpha val="8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143000" y="4224528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ERS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938528" y="4206240"/>
            <a:ext cx="713232" cy="621792"/>
          </a:xfrm>
          <a:prstGeom prst="roundRect">
            <a:avLst>
              <a:gd name="adj" fmla="val 5882"/>
            </a:avLst>
          </a:prstGeom>
          <a:solidFill>
            <a:srgbClr val="E67E22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938528" y="4224528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Lead + ME Tech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34056" y="4206240"/>
            <a:ext cx="713232" cy="621792"/>
          </a:xfrm>
          <a:prstGeom prst="roundRect">
            <a:avLst>
              <a:gd name="adj" fmla="val 5882"/>
            </a:avLst>
          </a:prstGeom>
          <a:solidFill>
            <a:srgbClr val="1A7A4A">
              <a:alpha val="8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34056" y="4224528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VEM / MP&amp;L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529584" y="4206240"/>
            <a:ext cx="713232" cy="621792"/>
          </a:xfrm>
          <a:prstGeom prst="roundRect">
            <a:avLst>
              <a:gd name="adj" fmla="val 5882"/>
            </a:avLst>
          </a:prstGeom>
          <a:solidFill>
            <a:srgbClr val="C0392B">
              <a:alpha val="8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529584" y="4224528"/>
            <a:ext cx="713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/ PGL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26280" y="1097280"/>
            <a:ext cx="4343400" cy="1572768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681728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iCREATE CONSOLIDATES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1444752"/>
            <a:ext cx="4069080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4645152" y="1444752"/>
            <a:ext cx="45720" cy="17373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55" name="Text 53"/>
          <p:cNvSpPr/>
          <p:nvPr/>
        </p:nvSpPr>
        <p:spPr>
          <a:xfrm>
            <a:off x="4736592" y="14630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CRIDX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797296" y="1463040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change record index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45152" y="1645920"/>
            <a:ext cx="4069080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4645152" y="1645920"/>
            <a:ext cx="45720" cy="17373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59" name="Text 57"/>
          <p:cNvSpPr/>
          <p:nvPr/>
        </p:nvSpPr>
        <p:spPr>
          <a:xfrm>
            <a:off x="4736592" y="16642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797296" y="1664208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approval &amp; cost notification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45152" y="1847088"/>
            <a:ext cx="4069080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4645152" y="1847088"/>
            <a:ext cx="45720" cy="17373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63" name="Text 61"/>
          <p:cNvSpPr/>
          <p:nvPr/>
        </p:nvSpPr>
        <p:spPr>
          <a:xfrm>
            <a:off x="4736592" y="18653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EWIS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797296" y="1865376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work instruction system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45152" y="2048256"/>
            <a:ext cx="4069080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4645152" y="2048256"/>
            <a:ext cx="45720" cy="17373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7" name="Text 65"/>
          <p:cNvSpPr/>
          <p:nvPr/>
        </p:nvSpPr>
        <p:spPr>
          <a:xfrm>
            <a:off x="4736592" y="206654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97296" y="206654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BOM &amp; usage data — feeds iCreate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45152" y="2249424"/>
            <a:ext cx="4069080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4645152" y="2249424"/>
            <a:ext cx="45720" cy="17373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71" name="Text 69"/>
          <p:cNvSpPr/>
          <p:nvPr/>
        </p:nvSpPr>
        <p:spPr>
          <a:xfrm>
            <a:off x="4736592" y="22677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NGR/REDBOOK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797296" y="2267712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cost ledger — updated via ERS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645152" y="2450592"/>
            <a:ext cx="4069080" cy="1737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4645152" y="2450592"/>
            <a:ext cx="45720" cy="17373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5" name="Text 73"/>
          <p:cNvSpPr/>
          <p:nvPr/>
        </p:nvSpPr>
        <p:spPr>
          <a:xfrm>
            <a:off x="4736592" y="24688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eTracker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797296" y="2468880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tracker — partially integrated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26280" y="2761488"/>
            <a:ext cx="4343400" cy="21031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681728" y="2852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HOMEPAGE — KEY FUNCTIONS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617720" y="3108960"/>
            <a:ext cx="2029968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09160" y="31455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Actions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70916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changes requiring your review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766560" y="3108960"/>
            <a:ext cx="2029968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58000" y="31455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Drafts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85800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raised, not yet submitted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17720" y="3611880"/>
            <a:ext cx="2029968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09160" y="3648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Changes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70916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any change ID in iCreate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766560" y="3611880"/>
            <a:ext cx="2029968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58000" y="3648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Change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85800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 initiates a new CR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617720" y="4114800"/>
            <a:ext cx="2029968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09160" y="4151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Tab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70916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decisions with #rework/#hold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766560" y="4114800"/>
            <a:ext cx="2029968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58000" y="4151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 Workflow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858000" y="4343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W→P→A→C concern tracked in iCreate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Why Decommission iCreate?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3DEXPERIENCE now natively covers all iCreate capabilities — running both is redundant, costly and blocks innovation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247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Capability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75888" y="1124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3DEXPERIENCE Equivalent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76288" y="1124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408176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408176"/>
            <a:ext cx="50292" cy="34747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4630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Initiation (Draft → Initiate)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0" y="1408176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463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 (CO) / Change Action (CA) in 3DX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1408176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1152" y="1481328"/>
            <a:ext cx="1572768" cy="201168"/>
          </a:xfrm>
          <a:prstGeom prst="roundRect">
            <a:avLst>
              <a:gd name="adj" fmla="val 18182"/>
            </a:avLst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931152" y="14813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783080"/>
            <a:ext cx="850392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1783080"/>
            <a:ext cx="50292" cy="34747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18379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Multi-stakeholder Approval Workflow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783080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8379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3DX Workflow Engine with routed, configurable approvals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1783080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31152" y="1856232"/>
            <a:ext cx="1572768" cy="201168"/>
          </a:xfrm>
          <a:prstGeom prst="roundRect">
            <a:avLst>
              <a:gd name="adj" fmla="val 18182"/>
            </a:avLst>
          </a:prstGeom>
          <a:solidFill>
            <a:srgbClr val="1A7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18562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157984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157984"/>
            <a:ext cx="50292" cy="34747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221284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/ Parts Management (WERS feed)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0" y="2157984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22128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EBOM management natively in 3DX PLM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2157984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31152" y="2231136"/>
            <a:ext cx="1572768" cy="201168"/>
          </a:xfrm>
          <a:prstGeom prst="roundRect">
            <a:avLst>
              <a:gd name="adj" fmla="val 18182"/>
            </a:avLst>
          </a:prstGeom>
          <a:solidFill>
            <a:srgbClr val="1A7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931152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532888"/>
            <a:ext cx="850392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2532888"/>
            <a:ext cx="50292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25877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across Vehicle Lines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2532888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25877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App in 3DX (Smart Change Builder)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0" y="2532888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31152" y="2606040"/>
            <a:ext cx="1572768" cy="201168"/>
          </a:xfrm>
          <a:prstGeom prst="roundRect">
            <a:avLst>
              <a:gd name="adj" fmla="val 18182"/>
            </a:avLst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6931152" y="260604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2907792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20040" y="2907792"/>
            <a:ext cx="50292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" y="29626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Cost Tracking (NGR/REDBOOK)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0" y="2907792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30752" y="29626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EDP4E + SAP4HANA integration via 3DX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58000" y="2907792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31152" y="2980944"/>
            <a:ext cx="1572768" cy="201168"/>
          </a:xfrm>
          <a:prstGeom prst="roundRect">
            <a:avLst>
              <a:gd name="adj" fmla="val 18182"/>
            </a:avLst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6931152" y="298094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3282696"/>
            <a:ext cx="850392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0" name="Shape 48"/>
          <p:cNvSpPr/>
          <p:nvPr/>
        </p:nvSpPr>
        <p:spPr>
          <a:xfrm>
            <a:off x="320040" y="3282696"/>
            <a:ext cx="50292" cy="347472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" y="33375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Celonis Metrics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0" y="3282696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30752" y="3337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 + EDP4E + Snowflake within 3DX ecosystem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58000" y="3282696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3355848"/>
            <a:ext cx="1572768" cy="201168"/>
          </a:xfrm>
          <a:prstGeom prst="roundRect">
            <a:avLst>
              <a:gd name="adj" fmla="val 18182"/>
            </a:avLst>
          </a:prstGeom>
          <a:solidFill>
            <a:srgbClr val="C8962E"/>
          </a:solidFill>
          <a:ln/>
        </p:spPr>
      </p:sp>
      <p:sp>
        <p:nvSpPr>
          <p:cNvPr id="56" name="Text 54"/>
          <p:cNvSpPr/>
          <p:nvPr/>
        </p:nvSpPr>
        <p:spPr>
          <a:xfrm>
            <a:off x="6931152" y="33558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3657600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320040" y="3657600"/>
            <a:ext cx="50292" cy="347472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" y="37124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 Concern Lifecycle (P→A→C)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0" y="3657600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30752" y="37124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3DX event-driven automation replacing manual ERS steps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58000" y="3657600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31152" y="3730752"/>
            <a:ext cx="1572768" cy="201168"/>
          </a:xfrm>
          <a:prstGeom prst="roundRect">
            <a:avLst>
              <a:gd name="adj" fmla="val 18182"/>
            </a:avLst>
          </a:prstGeom>
          <a:solidFill>
            <a:srgbClr val="C8962E"/>
          </a:solidFill>
          <a:ln/>
        </p:spPr>
      </p:sp>
      <p:sp>
        <p:nvSpPr>
          <p:cNvPr id="64" name="Text 62"/>
          <p:cNvSpPr/>
          <p:nvPr/>
        </p:nvSpPr>
        <p:spPr>
          <a:xfrm>
            <a:off x="6931152" y="37307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4032504"/>
            <a:ext cx="8503920" cy="34747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6" name="Shape 64"/>
          <p:cNvSpPr/>
          <p:nvPr/>
        </p:nvSpPr>
        <p:spPr>
          <a:xfrm>
            <a:off x="320040" y="4032504"/>
            <a:ext cx="50292" cy="347472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7" name="Text 65"/>
          <p:cNvSpPr/>
          <p:nvPr/>
        </p:nvSpPr>
        <p:spPr>
          <a:xfrm>
            <a:off x="475488" y="40873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eTracker / PACN Cost Notification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0" y="4032504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30752" y="40873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via 3DX event triggers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858000" y="4032504"/>
            <a:ext cx="0" cy="347472"/>
          </a:xfrm>
          <a:prstGeom prst="line">
            <a:avLst/>
          </a:prstGeom>
          <a:noFill/>
          <a:ln w="6350">
            <a:solidFill>
              <a:srgbClr val="D1D9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31152" y="4105656"/>
            <a:ext cx="1572768" cy="201168"/>
          </a:xfrm>
          <a:prstGeom prst="roundRect">
            <a:avLst>
              <a:gd name="adj" fmla="val 18182"/>
            </a:avLst>
          </a:prstGeom>
          <a:solidFill>
            <a:srgbClr val="C8962E"/>
          </a:solidFill>
          <a:ln/>
        </p:spPr>
      </p:sp>
      <p:sp>
        <p:nvSpPr>
          <p:cNvPr id="72" name="Text 70"/>
          <p:cNvSpPr/>
          <p:nvPr/>
        </p:nvSpPr>
        <p:spPr>
          <a:xfrm>
            <a:off x="6931152" y="410565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4" name="Shape 72"/>
          <p:cNvSpPr/>
          <p:nvPr/>
        </p:nvSpPr>
        <p:spPr>
          <a:xfrm>
            <a:off x="228600" y="4736592"/>
            <a:ext cx="16642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5" name="Text 73"/>
          <p:cNvSpPr/>
          <p:nvPr/>
        </p:nvSpPr>
        <p:spPr>
          <a:xfrm>
            <a:off x="283464" y="47548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System of Record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020824" y="4736592"/>
            <a:ext cx="16642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7" name="Text 75"/>
          <p:cNvSpPr/>
          <p:nvPr/>
        </p:nvSpPr>
        <p:spPr>
          <a:xfrm>
            <a:off x="2075688" y="47548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Eliminate Dual Maintenance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813048" y="4736592"/>
            <a:ext cx="16642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9" name="Text 77"/>
          <p:cNvSpPr/>
          <p:nvPr/>
        </p:nvSpPr>
        <p:spPr>
          <a:xfrm>
            <a:off x="3867912" y="47548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Enable AI/Automation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605272" y="4736592"/>
            <a:ext cx="16642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1" name="Text 79"/>
          <p:cNvSpPr/>
          <p:nvPr/>
        </p:nvSpPr>
        <p:spPr>
          <a:xfrm>
            <a:off x="5660136" y="47548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 Infrastructure Cost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397496" y="4736592"/>
            <a:ext cx="1664208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3" name="Text 81"/>
          <p:cNvSpPr/>
          <p:nvPr/>
        </p:nvSpPr>
        <p:spPr>
          <a:xfrm>
            <a:off x="7452360" y="47548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Change Cycles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As-Is iCreate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multi-system landscape — fragmented, duplicative and costly to maintain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56616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77A8"/>
          </a:solidFill>
          <a:ln/>
          <a:effectLst>
            <a:outerShdw blurRad="177800" dist="50800" dir="16200000" algn="bl" rotWithShape="0">
              <a:srgbClr val="00A8CC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2286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Change Hub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Draft→Initiate→Compile→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Request→Evaluate→Approve→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C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Transact→Execute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01168" y="98755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A2E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10927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12755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Initiator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01168" y="162763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" y="17327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3DX CO/CA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19156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also update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01168" y="226771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1168" y="23728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" y="25557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BOM feed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1168" y="290779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" y="30129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31958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Auth. DB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571232" y="98755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4A235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71232" y="10927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NGR/REDBOOK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71232" y="12755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Ledger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571232" y="162763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71232" y="17327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19156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Record Index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571232" y="226771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67E2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71232" y="23728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eTracker/PACN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1232" y="25557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Notification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571232" y="290779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71232" y="30129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ED&amp;T Sheet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71232" y="31958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Documentation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810512" y="137160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810512" y="1444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10512" y="1627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phase routing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10512" y="1938528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810512" y="20116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Lead / ME Tech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10512" y="21945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phase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810512" y="2505456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15543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810512" y="2578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10512" y="27614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 concern mgmt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10512" y="3072384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5D403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810512" y="31455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/ VFM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10512" y="33284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QAF + cost validate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824728" y="137160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824728" y="1444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Approver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24728" y="16276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phase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824728" y="1938528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824728" y="20116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VEM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24728" y="21945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phase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824728" y="2505456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15543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824728" y="2578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/ PGL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24728" y="27614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824728" y="3072384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5D403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824728" y="31455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24728" y="33284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validation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572768" y="1234440"/>
            <a:ext cx="237744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72768" y="1874520"/>
            <a:ext cx="237744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72768" y="2514600"/>
            <a:ext cx="237744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72768" y="3154680"/>
            <a:ext cx="237744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19272" y="1591056"/>
            <a:ext cx="246888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19272" y="2157984"/>
            <a:ext cx="246888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19272" y="2724912"/>
            <a:ext cx="246888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19272" y="3291840"/>
            <a:ext cx="246888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47872" y="2057400"/>
            <a:ext cx="18288" cy="18288"/>
          </a:xfrm>
          <a:prstGeom prst="line">
            <a:avLst/>
          </a:prstGeom>
          <a:solidFill>
            <a:srgbClr val="3A5A7A"/>
          </a:solidFill>
          <a:ln/>
        </p:spPr>
      </p:sp>
      <p:sp>
        <p:nvSpPr>
          <p:cNvPr id="66" name="Shape 64"/>
          <p:cNvSpPr/>
          <p:nvPr/>
        </p:nvSpPr>
        <p:spPr>
          <a:xfrm>
            <a:off x="3547872" y="2331720"/>
            <a:ext cx="18288" cy="18288"/>
          </a:xfrm>
          <a:prstGeom prst="line">
            <a:avLst/>
          </a:prstGeom>
          <a:solidFill>
            <a:srgbClr val="3A5A7A"/>
          </a:solidFill>
          <a:ln/>
        </p:spPr>
      </p:sp>
      <p:sp>
        <p:nvSpPr>
          <p:cNvPr id="67" name="Shape 65"/>
          <p:cNvSpPr/>
          <p:nvPr/>
        </p:nvSpPr>
        <p:spPr>
          <a:xfrm>
            <a:off x="5504688" y="1591056"/>
            <a:ext cx="320040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504688" y="2157984"/>
            <a:ext cx="320040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04688" y="2724912"/>
            <a:ext cx="320040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04688" y="3291840"/>
            <a:ext cx="320040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71232" y="1234440"/>
            <a:ext cx="0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71232" y="1874520"/>
            <a:ext cx="0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71232" y="2514600"/>
            <a:ext cx="0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71232" y="3154680"/>
            <a:ext cx="0" cy="0"/>
          </a:xfrm>
          <a:prstGeom prst="line">
            <a:avLst/>
          </a:prstGeom>
          <a:noFill/>
          <a:ln w="15240">
            <a:solidFill>
              <a:srgbClr val="3A5A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53712" y="987552"/>
            <a:ext cx="0" cy="841248"/>
          </a:xfrm>
          <a:prstGeom prst="line">
            <a:avLst/>
          </a:prstGeom>
          <a:noFill/>
          <a:ln w="15240">
            <a:solidFill>
              <a:srgbClr val="00A8CC"/>
            </a:solidFill>
            <a:prstDash val="sysDot"/>
          </a:ln>
        </p:spPr>
      </p:sp>
      <p:sp>
        <p:nvSpPr>
          <p:cNvPr id="76" name="Shape 74"/>
          <p:cNvSpPr/>
          <p:nvPr/>
        </p:nvSpPr>
        <p:spPr>
          <a:xfrm>
            <a:off x="4553712" y="2834640"/>
            <a:ext cx="0" cy="777240"/>
          </a:xfrm>
          <a:prstGeom prst="line">
            <a:avLst/>
          </a:prstGeom>
          <a:noFill/>
          <a:ln w="15240">
            <a:solidFill>
              <a:srgbClr val="00A8CC"/>
            </a:solidFill>
            <a:prstDash val="sysDot"/>
          </a:ln>
        </p:spPr>
      </p:sp>
      <p:sp>
        <p:nvSpPr>
          <p:cNvPr id="77" name="Shape 75"/>
          <p:cNvSpPr/>
          <p:nvPr/>
        </p:nvSpPr>
        <p:spPr>
          <a:xfrm>
            <a:off x="1097280" y="385876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097280" y="3931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SAP4HANA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97280" y="4114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Finance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743200" y="385876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2C3E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2743200" y="3931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743200" y="4114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389120" y="385876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4A235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4389120" y="3931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Teamcenter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389120" y="4114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PLM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035040" y="385876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1A527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6035040" y="3931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RADAS/EDP4E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035040" y="4114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571232" y="3858768"/>
            <a:ext cx="1371600" cy="438912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7571232" y="3931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571232" y="4114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828800" y="3858768"/>
            <a:ext cx="0" cy="0"/>
          </a:xfrm>
          <a:prstGeom prst="line">
            <a:avLst/>
          </a:prstGeom>
          <a:noFill/>
          <a:ln w="12700">
            <a:solidFill>
              <a:srgbClr val="2E4057"/>
            </a:solidFill>
            <a:prstDash val="sysDash"/>
          </a:ln>
        </p:spPr>
      </p:sp>
      <p:sp>
        <p:nvSpPr>
          <p:cNvPr id="93" name="Shape 91"/>
          <p:cNvSpPr/>
          <p:nvPr/>
        </p:nvSpPr>
        <p:spPr>
          <a:xfrm>
            <a:off x="3456432" y="3858768"/>
            <a:ext cx="0" cy="0"/>
          </a:xfrm>
          <a:prstGeom prst="line">
            <a:avLst/>
          </a:prstGeom>
          <a:noFill/>
          <a:ln w="12700">
            <a:solidFill>
              <a:srgbClr val="2E4057"/>
            </a:solidFill>
            <a:prstDash val="sysDash"/>
          </a:ln>
        </p:spPr>
      </p:sp>
      <p:sp>
        <p:nvSpPr>
          <p:cNvPr id="94" name="Shape 92"/>
          <p:cNvSpPr/>
          <p:nvPr/>
        </p:nvSpPr>
        <p:spPr>
          <a:xfrm>
            <a:off x="5102352" y="3858768"/>
            <a:ext cx="0" cy="0"/>
          </a:xfrm>
          <a:prstGeom prst="line">
            <a:avLst/>
          </a:prstGeom>
          <a:noFill/>
          <a:ln w="12700">
            <a:solidFill>
              <a:srgbClr val="2E4057"/>
            </a:solidFill>
            <a:prstDash val="sysDash"/>
          </a:ln>
        </p:spPr>
      </p:sp>
      <p:sp>
        <p:nvSpPr>
          <p:cNvPr id="95" name="Shape 93"/>
          <p:cNvSpPr/>
          <p:nvPr/>
        </p:nvSpPr>
        <p:spPr>
          <a:xfrm>
            <a:off x="6748272" y="3858768"/>
            <a:ext cx="0" cy="0"/>
          </a:xfrm>
          <a:prstGeom prst="line">
            <a:avLst/>
          </a:prstGeom>
          <a:noFill/>
          <a:ln w="12700">
            <a:solidFill>
              <a:srgbClr val="2E4057"/>
            </a:solidFill>
            <a:prstDash val="sysDash"/>
          </a:ln>
        </p:spPr>
      </p:sp>
      <p:sp>
        <p:nvSpPr>
          <p:cNvPr id="96" name="Shape 94"/>
          <p:cNvSpPr/>
          <p:nvPr/>
        </p:nvSpPr>
        <p:spPr>
          <a:xfrm>
            <a:off x="8257032" y="3858768"/>
            <a:ext cx="0" cy="0"/>
          </a:xfrm>
          <a:prstGeom prst="line">
            <a:avLst/>
          </a:prstGeom>
          <a:noFill/>
          <a:ln w="12700">
            <a:solidFill>
              <a:srgbClr val="2E4057"/>
            </a:solidFill>
            <a:prstDash val="sysDash"/>
          </a:ln>
        </p:spPr>
      </p:sp>
      <p:sp>
        <p:nvSpPr>
          <p:cNvPr id="97" name="Shape 9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98" name="Shape 96"/>
          <p:cNvSpPr/>
          <p:nvPr/>
        </p:nvSpPr>
        <p:spPr>
          <a:xfrm>
            <a:off x="365760" y="4828032"/>
            <a:ext cx="146304" cy="146304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99" name="Text 97"/>
          <p:cNvSpPr/>
          <p:nvPr/>
        </p:nvSpPr>
        <p:spPr>
          <a:xfrm>
            <a:off x="566928" y="48188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Hub (to decommission)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148840" y="482803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1" name="Text 99"/>
          <p:cNvSpPr/>
          <p:nvPr/>
        </p:nvSpPr>
        <p:spPr>
          <a:xfrm>
            <a:off x="2350008" y="48188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→ Retire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931920" y="4828032"/>
            <a:ext cx="146304" cy="14630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3" name="Text 101"/>
          <p:cNvSpPr/>
          <p:nvPr/>
        </p:nvSpPr>
        <p:spPr>
          <a:xfrm>
            <a:off x="4133088" y="48188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/ Keep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715000" y="4828032"/>
            <a:ext cx="146304" cy="1463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5" name="Text 103"/>
          <p:cNvSpPr/>
          <p:nvPr/>
        </p:nvSpPr>
        <p:spPr>
          <a:xfrm>
            <a:off x="5916168" y="48188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integrated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7498080" y="4828032"/>
            <a:ext cx="146304" cy="14630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7" name="Text 105"/>
          <p:cNvSpPr/>
          <p:nvPr/>
        </p:nvSpPr>
        <p:spPr>
          <a:xfrm>
            <a:off x="7699248" y="48188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536192" y="896112"/>
            <a:ext cx="6071616" cy="384048"/>
          </a:xfrm>
          <a:prstGeom prst="roundRect">
            <a:avLst>
              <a:gd name="adj" fmla="val 11905"/>
            </a:avLst>
          </a:prstGeom>
          <a:solidFill>
            <a:srgbClr val="C0392B">
              <a:alpha val="1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664208" y="932688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Engineers must enter the same change data in BOTH 3DX CO/CA AND iCreate — creating permanent duplicate effort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D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Pain Points in the As-Is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current iCreate landscape breaks down — 5 critical failure areas mapped to the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93008" y="1737360"/>
            <a:ext cx="2157984" cy="1115568"/>
          </a:xfrm>
          <a:prstGeom prst="roundRect">
            <a:avLst>
              <a:gd name="adj" fmla="val 6557"/>
            </a:avLst>
          </a:prstGeom>
          <a:solidFill>
            <a:srgbClr val="092040"/>
          </a:solidFill>
          <a:ln w="1524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93008" y="192024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93008" y="2194560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Draft→Initiate→Compile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→Request→Evaluate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→Approve→Transact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4592" y="137160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463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3DX CO/CA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4592" y="192024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0116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246888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PADB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301752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31089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38528" y="141732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14996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38528" y="192024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20025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Lead/Tech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38528" y="242316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2505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38528" y="29260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38528" y="30083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Buyer/VFM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88152" y="141732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14996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Approver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88152" y="192024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20025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Finance/VEM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88152" y="242316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2505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CPE/PGL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88152" y="29260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88152" y="30083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99248" y="137160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1463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NGR/REDBOOK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99248" y="192024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20116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CRIDX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99248" y="246888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9248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eTracker/PACN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99248" y="301752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9248" y="31089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ED&amp;T Sheet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9728" y="896112"/>
            <a:ext cx="2999232" cy="676656"/>
          </a:xfrm>
          <a:prstGeom prst="roundRect">
            <a:avLst>
              <a:gd name="adj" fmla="val 8108"/>
            </a:avLst>
          </a:prstGeom>
          <a:solidFill>
            <a:srgbClr val="1A0A0A"/>
          </a:solidFill>
          <a:ln w="19050">
            <a:solidFill>
              <a:srgbClr val="E74C3C"/>
            </a:solidFill>
            <a:prstDash val="solid"/>
          </a:ln>
          <a:effectLst>
            <a:outerShdw blurRad="127000" dist="38100" dir="16200000" algn="bl" rotWithShape="0">
              <a:srgbClr val="E74C3C">
                <a:alpha val="35000"/>
              </a:srgbClr>
            </a:outerShdw>
          </a:effectLst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0"/>
            <a:ext cx="237744" cy="23774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02920" y="96926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Duplicate Data Entry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01168" y="12252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entered in 3DX CO/CA AND iCreate separately — ~3–4 hrs wasted per change.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6035040" y="896112"/>
            <a:ext cx="2999232" cy="676656"/>
          </a:xfrm>
          <a:prstGeom prst="roundRect">
            <a:avLst>
              <a:gd name="adj" fmla="val 8108"/>
            </a:avLst>
          </a:prstGeom>
          <a:solidFill>
            <a:srgbClr val="1A0A0A"/>
          </a:solidFill>
          <a:ln w="19050">
            <a:solidFill>
              <a:srgbClr val="E67E22"/>
            </a:solidFill>
            <a:prstDash val="solid"/>
          </a:ln>
          <a:effectLst>
            <a:outerShdw blurRad="127000" dist="38100" dir="16200000" algn="bl" rotWithShape="0">
              <a:srgbClr val="E67E22">
                <a:alpha val="35000"/>
              </a:srgbClr>
            </a:outerShdw>
          </a:effectLst>
        </p:spPr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05840"/>
            <a:ext cx="237744" cy="237744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428232" y="96926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Slow Cycle Times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6126480" y="12252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loops Compile→Revise and Request→Revise stall changes for days. Weekend Prod BD manual testing required.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109728" y="3529584"/>
            <a:ext cx="2999232" cy="676656"/>
          </a:xfrm>
          <a:prstGeom prst="roundRect">
            <a:avLst>
              <a:gd name="adj" fmla="val 8108"/>
            </a:avLst>
          </a:prstGeom>
          <a:solidFill>
            <a:srgbClr val="1A0A0A"/>
          </a:solidFill>
          <a:ln w="19050">
            <a:solidFill>
              <a:srgbClr val="E74C3C"/>
            </a:solidFill>
            <a:prstDash val="solid"/>
          </a:ln>
          <a:effectLst>
            <a:outerShdw blurRad="127000" dist="38100" dir="16200000" algn="bl" rotWithShape="0">
              <a:srgbClr val="E74C3C">
                <a:alpha val="35000"/>
              </a:srgbClr>
            </a:outerShdw>
          </a:effectLst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3639312"/>
            <a:ext cx="237744" cy="237744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02920" y="360273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No E2E Test Coverage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201168" y="38587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automated coverage across iCreate↔3DX integration. Bugs found only in PP/Prod — costly late fixes.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3218688" y="4187952"/>
            <a:ext cx="2743200" cy="676656"/>
          </a:xfrm>
          <a:prstGeom prst="roundRect">
            <a:avLst>
              <a:gd name="adj" fmla="val 8108"/>
            </a:avLst>
          </a:prstGeom>
          <a:solidFill>
            <a:srgbClr val="1A0A0A"/>
          </a:solidFill>
          <a:ln w="19050">
            <a:solidFill>
              <a:srgbClr val="E67E22"/>
            </a:solidFill>
            <a:prstDash val="solid"/>
          </a:ln>
          <a:effectLst>
            <a:outerShdw blurRad="127000" dist="38100" dir="16200000" algn="bl" rotWithShape="0">
              <a:srgbClr val="E67E22">
                <a:alpha val="35000"/>
              </a:srgbClr>
            </a:outerShdw>
          </a:effectLst>
        </p:spPr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4297680"/>
            <a:ext cx="237744" cy="237744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3611880" y="426110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Fragmented Reporting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3310128" y="45171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dashboard. Celonis/EDP4E disconnected from iCreate — no real-time change status visibility.</a:t>
            </a:r>
            <a:endParaRPr lang="en-US" sz="750" dirty="0"/>
          </a:p>
        </p:txBody>
      </p:sp>
      <p:sp>
        <p:nvSpPr>
          <p:cNvPr id="56" name="Shape 50"/>
          <p:cNvSpPr/>
          <p:nvPr/>
        </p:nvSpPr>
        <p:spPr>
          <a:xfrm>
            <a:off x="6035040" y="3529584"/>
            <a:ext cx="2999232" cy="676656"/>
          </a:xfrm>
          <a:prstGeom prst="roundRect">
            <a:avLst>
              <a:gd name="adj" fmla="val 8108"/>
            </a:avLst>
          </a:prstGeom>
          <a:solidFill>
            <a:srgbClr val="1A0A0A"/>
          </a:solidFill>
          <a:ln w="19050">
            <a:solidFill>
              <a:srgbClr val="E74C3C"/>
            </a:solidFill>
            <a:prstDash val="solid"/>
          </a:ln>
          <a:effectLst>
            <a:outerShdw blurRad="127000" dist="38100" dir="16200000" algn="bl" rotWithShape="0">
              <a:srgbClr val="E74C3C">
                <a:alpha val="35000"/>
              </a:srgbClr>
            </a:outerShdw>
          </a:effectLst>
        </p:spPr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639312"/>
            <a:ext cx="237744" cy="237744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6428232" y="360273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High Infrastructure Cost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6126480" y="38587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maintenance: every JLR process change requires parallel dev in iCreate AND 3DX — doubling cost &amp; time.</a:t>
            </a:r>
            <a:endParaRPr lang="en-US" sz="750" dirty="0"/>
          </a:p>
        </p:txBody>
      </p:sp>
      <p:sp>
        <p:nvSpPr>
          <p:cNvPr id="60" name="Shape 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1" name="Text 54"/>
          <p:cNvSpPr/>
          <p:nvPr/>
        </p:nvSpPr>
        <p:spPr>
          <a:xfrm>
            <a:off x="201168" y="4809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1600" dirty="0"/>
          </a:p>
        </p:txBody>
      </p:sp>
      <p:sp>
        <p:nvSpPr>
          <p:cNvPr id="62" name="Text 55"/>
          <p:cNvSpPr/>
          <p:nvPr/>
        </p:nvSpPr>
        <p:spPr>
          <a:xfrm>
            <a:off x="201168" y="499262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 on duplicate entry</a:t>
            </a:r>
            <a:endParaRPr lang="en-US" sz="700" dirty="0"/>
          </a:p>
        </p:txBody>
      </p:sp>
      <p:sp>
        <p:nvSpPr>
          <p:cNvPr id="63" name="Text 56"/>
          <p:cNvSpPr/>
          <p:nvPr/>
        </p:nvSpPr>
        <p:spPr>
          <a:xfrm>
            <a:off x="2002536" y="4809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hrs</a:t>
            </a:r>
            <a:endParaRPr lang="en-US" sz="1600" dirty="0"/>
          </a:p>
        </p:txBody>
      </p:sp>
      <p:sp>
        <p:nvSpPr>
          <p:cNvPr id="64" name="Text 57"/>
          <p:cNvSpPr/>
          <p:nvPr/>
        </p:nvSpPr>
        <p:spPr>
          <a:xfrm>
            <a:off x="2002536" y="499262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change in dual validation</a:t>
            </a:r>
            <a:endParaRPr lang="en-US" sz="700" dirty="0"/>
          </a:p>
        </p:txBody>
      </p:sp>
      <p:sp>
        <p:nvSpPr>
          <p:cNvPr id="65" name="Text 58"/>
          <p:cNvSpPr/>
          <p:nvPr/>
        </p:nvSpPr>
        <p:spPr>
          <a:xfrm>
            <a:off x="3803904" y="4809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600" dirty="0"/>
          </a:p>
        </p:txBody>
      </p:sp>
      <p:sp>
        <p:nvSpPr>
          <p:cNvPr id="66" name="Text 59"/>
          <p:cNvSpPr/>
          <p:nvPr/>
        </p:nvSpPr>
        <p:spPr>
          <a:xfrm>
            <a:off x="3803904" y="499262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vs single platform</a:t>
            </a:r>
            <a:endParaRPr lang="en-US" sz="700" dirty="0"/>
          </a:p>
        </p:txBody>
      </p:sp>
      <p:sp>
        <p:nvSpPr>
          <p:cNvPr id="67" name="Text 60"/>
          <p:cNvSpPr/>
          <p:nvPr/>
        </p:nvSpPr>
        <p:spPr>
          <a:xfrm>
            <a:off x="5605272" y="4809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1600" dirty="0"/>
          </a:p>
        </p:txBody>
      </p:sp>
      <p:sp>
        <p:nvSpPr>
          <p:cNvPr id="68" name="Text 61"/>
          <p:cNvSpPr/>
          <p:nvPr/>
        </p:nvSpPr>
        <p:spPr>
          <a:xfrm>
            <a:off x="5605272" y="499262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handoffs per change</a:t>
            </a:r>
            <a:endParaRPr lang="en-US" sz="700" dirty="0"/>
          </a:p>
        </p:txBody>
      </p:sp>
      <p:sp>
        <p:nvSpPr>
          <p:cNvPr id="69" name="Text 62"/>
          <p:cNvSpPr/>
          <p:nvPr/>
        </p:nvSpPr>
        <p:spPr>
          <a:xfrm>
            <a:off x="7406640" y="4809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600" dirty="0"/>
          </a:p>
        </p:txBody>
      </p:sp>
      <p:sp>
        <p:nvSpPr>
          <p:cNvPr id="70" name="Text 63"/>
          <p:cNvSpPr/>
          <p:nvPr/>
        </p:nvSpPr>
        <p:spPr>
          <a:xfrm>
            <a:off x="7406640" y="499262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automated coverage iCreate↔3DX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To-Be Architecture — Unified on 3DEXPERIENCE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3DX becomes the single platform for all change management — iCreate decommissioned, legacy systems retired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0B3D1A"/>
          </a:solidFill>
          <a:ln w="22860">
            <a:solidFill>
              <a:srgbClr val="27AE60"/>
            </a:solidFill>
            <a:prstDash val="solid"/>
          </a:ln>
          <a:effectLst>
            <a:outerShdw blurRad="228600" dist="63500" dir="16200000" algn="bl" rotWithShape="0">
              <a:srgbClr val="27AE6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426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6824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(3DX)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0128" y="1920240"/>
            <a:ext cx="2523744" cy="182880"/>
          </a:xfrm>
          <a:prstGeom prst="rect">
            <a:avLst/>
          </a:prstGeom>
          <a:solidFill>
            <a:srgbClr val="0D4A22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9385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CO/CA Change Workflow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10128" y="2139696"/>
            <a:ext cx="2523744" cy="182880"/>
          </a:xfrm>
          <a:prstGeom prst="rect">
            <a:avLst/>
          </a:prstGeom>
          <a:solidFill>
            <a:srgbClr val="0D4A22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215798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EBOM / BOM Management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0128" y="2359152"/>
            <a:ext cx="2523744" cy="182880"/>
          </a:xfrm>
          <a:prstGeom prst="rect">
            <a:avLst/>
          </a:prstGeom>
          <a:solidFill>
            <a:srgbClr val="0D4A22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237744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Approval Engine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10128" y="2578608"/>
            <a:ext cx="2523744" cy="182880"/>
          </a:xfrm>
          <a:prstGeom prst="rect">
            <a:avLst/>
          </a:prstGeom>
          <a:solidFill>
            <a:srgbClr val="0D4A22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259689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Change Builder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10128" y="2798064"/>
            <a:ext cx="2523744" cy="182880"/>
          </a:xfrm>
          <a:prstGeom prst="rect">
            <a:avLst/>
          </a:prstGeom>
          <a:solidFill>
            <a:srgbClr val="0D4A22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281635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Impact Analysis App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10128" y="3017520"/>
            <a:ext cx="2523744" cy="182880"/>
          </a:xfrm>
          <a:prstGeom prst="rect">
            <a:avLst/>
          </a:prstGeom>
          <a:solidFill>
            <a:srgbClr val="0D4A22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30358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Event-Driven Automation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4592" y="1417320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62A2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4592" y="15087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" y="169164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in 3DX directly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64592" y="1993392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62A2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4592" y="20848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Lead/Tech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" y="226771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in 3DX workflow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4592" y="2569464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62A2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4592" y="26609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" y="284378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W→P→A→C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64592" y="3145536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62A2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64592" y="32369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CPE/PGL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" y="341985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in 3DX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901952" y="141732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01952" y="1508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iCreate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01952" y="167335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901952" y="192024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01952" y="2011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CRIDX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01952" y="217627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901952" y="242316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01952" y="2514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eTracker/PACN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901952" y="267919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901952" y="292608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01952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ED&amp;T Sheet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01952" y="31821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379208" y="1417320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62A2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379208" y="15087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SAP4HANA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79208" y="169164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via EDP4E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379208" y="1993392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62A2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79208" y="20848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79208" y="226771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379208" y="2569464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62A2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379208" y="26609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Snowflake/EDP4E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79208" y="284378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 platform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379208" y="3145536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162A2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379208" y="32369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379208" y="341985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linked to 3DX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764792" y="1636776"/>
            <a:ext cx="1435608" cy="0"/>
          </a:xfrm>
          <a:prstGeom prst="line">
            <a:avLst/>
          </a:prstGeom>
          <a:noFill/>
          <a:ln w="16510">
            <a:solidFill>
              <a:srgbClr val="1A7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64792" y="2212848"/>
            <a:ext cx="1435608" cy="0"/>
          </a:xfrm>
          <a:prstGeom prst="line">
            <a:avLst/>
          </a:prstGeom>
          <a:noFill/>
          <a:ln w="16510">
            <a:solidFill>
              <a:srgbClr val="1A7A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64792" y="2788920"/>
            <a:ext cx="1435608" cy="0"/>
          </a:xfrm>
          <a:prstGeom prst="line">
            <a:avLst/>
          </a:prstGeom>
          <a:noFill/>
          <a:ln w="16510">
            <a:solidFill>
              <a:srgbClr val="1A7A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64792" y="3364992"/>
            <a:ext cx="1435608" cy="0"/>
          </a:xfrm>
          <a:prstGeom prst="line">
            <a:avLst/>
          </a:prstGeom>
          <a:noFill/>
          <a:ln w="16510">
            <a:solidFill>
              <a:srgbClr val="1A7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0" y="1636776"/>
            <a:ext cx="1435608" cy="0"/>
          </a:xfrm>
          <a:prstGeom prst="line">
            <a:avLst/>
          </a:prstGeom>
          <a:noFill/>
          <a:ln w="16510">
            <a:solidFill>
              <a:srgbClr val="1A7A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43600" y="2212848"/>
            <a:ext cx="1435608" cy="0"/>
          </a:xfrm>
          <a:prstGeom prst="line">
            <a:avLst/>
          </a:prstGeom>
          <a:noFill/>
          <a:ln w="16510">
            <a:solidFill>
              <a:srgbClr val="1A7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43600" y="2788920"/>
            <a:ext cx="1435608" cy="0"/>
          </a:xfrm>
          <a:prstGeom prst="line">
            <a:avLst/>
          </a:prstGeom>
          <a:noFill/>
          <a:ln w="16510">
            <a:solidFill>
              <a:srgbClr val="1A7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3600" y="3364992"/>
            <a:ext cx="1435608" cy="0"/>
          </a:xfrm>
          <a:prstGeom prst="line">
            <a:avLst/>
          </a:prstGeom>
          <a:noFill/>
          <a:ln w="16510">
            <a:solidFill>
              <a:srgbClr val="1A7A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8992" y="379476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0B3D1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078992" y="38862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Impact Analysis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78992" y="40690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suggestion in 3DX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834640" y="379476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0B3D1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834640" y="38862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Triggers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834640" y="40690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handoffs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617720" y="379476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0B3D1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617720" y="38862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BOM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617720" y="40690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vehicles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400800" y="379476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0B3D1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6400800" y="38862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Reporting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00800" y="40690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 + Snowflake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828800" y="3794760"/>
            <a:ext cx="0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ysDot"/>
          </a:ln>
        </p:spPr>
      </p:sp>
      <p:sp>
        <p:nvSpPr>
          <p:cNvPr id="77" name="Shape 75"/>
          <p:cNvSpPr/>
          <p:nvPr/>
        </p:nvSpPr>
        <p:spPr>
          <a:xfrm>
            <a:off x="3593592" y="3794760"/>
            <a:ext cx="0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ysDot"/>
          </a:ln>
        </p:spPr>
      </p:sp>
      <p:sp>
        <p:nvSpPr>
          <p:cNvPr id="78" name="Shape 76"/>
          <p:cNvSpPr/>
          <p:nvPr/>
        </p:nvSpPr>
        <p:spPr>
          <a:xfrm>
            <a:off x="5376672" y="3794760"/>
            <a:ext cx="0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ysDot"/>
          </a:ln>
        </p:spPr>
      </p:sp>
      <p:sp>
        <p:nvSpPr>
          <p:cNvPr id="79" name="Shape 77"/>
          <p:cNvSpPr/>
          <p:nvPr/>
        </p:nvSpPr>
        <p:spPr>
          <a:xfrm>
            <a:off x="7159752" y="3794760"/>
            <a:ext cx="0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ysDot"/>
          </a:ln>
        </p:spPr>
      </p:sp>
      <p:sp>
        <p:nvSpPr>
          <p:cNvPr id="80" name="Shape 7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1" name="Text 79"/>
          <p:cNvSpPr/>
          <p:nvPr/>
        </p:nvSpPr>
        <p:spPr>
          <a:xfrm>
            <a:off x="274320" y="4443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vs TO-BE: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56032" y="4663440"/>
            <a:ext cx="1673352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3" name="Text 81"/>
          <p:cNvSpPr/>
          <p:nvPr/>
        </p:nvSpPr>
        <p:spPr>
          <a:xfrm>
            <a:off x="310896" y="46817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Systems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10896" y="4846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Platform (3DX)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039112" y="4663440"/>
            <a:ext cx="1673352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6" name="Text 84"/>
          <p:cNvSpPr/>
          <p:nvPr/>
        </p:nvSpPr>
        <p:spPr>
          <a:xfrm>
            <a:off x="2093976" y="46817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Data Entry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093976" y="4846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 Source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822192" y="4663440"/>
            <a:ext cx="1673352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9" name="Text 87"/>
          <p:cNvSpPr/>
          <p:nvPr/>
        </p:nvSpPr>
        <p:spPr>
          <a:xfrm>
            <a:off x="3877056" y="46817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ERS Steps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877056" y="4846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Event Automation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605272" y="4663440"/>
            <a:ext cx="1673352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2" name="Text 90"/>
          <p:cNvSpPr/>
          <p:nvPr/>
        </p:nvSpPr>
        <p:spPr>
          <a:xfrm>
            <a:off x="5660136" y="46817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Governance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660136" y="4846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Workflow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388352" y="4663440"/>
            <a:ext cx="1673352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5" name="Text 93"/>
          <p:cNvSpPr/>
          <p:nvPr/>
        </p:nvSpPr>
        <p:spPr>
          <a:xfrm>
            <a:off x="7443216" y="46817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Reports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443216" y="48463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Dashboards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3-Year iCreate Decommissioning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aligned to JLR vehicle programmes — L460 → L461 → Legacy vehicles → Full decommission by Q3 2027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807208" cy="347472"/>
          </a:xfrm>
          <a:prstGeom prst="roundRect">
            <a:avLst>
              <a:gd name="adj" fmla="val 10526"/>
            </a:avLst>
          </a:prstGeom>
          <a:solidFill>
            <a:srgbClr val="0077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6868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Phase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868680"/>
            <a:ext cx="2807208" cy="347472"/>
          </a:xfrm>
          <a:prstGeom prst="roundRect">
            <a:avLst>
              <a:gd name="adj" fmla="val 10526"/>
            </a:avLst>
          </a:prstGeom>
          <a:solidFill>
            <a:srgbClr val="C8962E"/>
          </a:solidFill>
          <a:ln/>
        </p:spPr>
      </p:sp>
      <p:sp>
        <p:nvSpPr>
          <p:cNvPr id="9" name="Text 7"/>
          <p:cNvSpPr/>
          <p:nvPr/>
        </p:nvSpPr>
        <p:spPr>
          <a:xfrm>
            <a:off x="3218688" y="86868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Phase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17336" y="868680"/>
            <a:ext cx="2807208" cy="347472"/>
          </a:xfrm>
          <a:prstGeom prst="roundRect">
            <a:avLst>
              <a:gd name="adj" fmla="val 10526"/>
            </a:avLst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6117336" y="86868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— Phase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261872"/>
            <a:ext cx="8375904" cy="914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261872"/>
            <a:ext cx="2807208" cy="9144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18688" y="1261872"/>
            <a:ext cx="2807208" cy="9144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7336" y="1261872"/>
            <a:ext cx="2578608" cy="914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10312" y="12161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108960" y="12161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07608" y="12161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586216" y="12161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1417320"/>
            <a:ext cx="2807208" cy="3291840"/>
          </a:xfrm>
          <a:prstGeom prst="roundRect">
            <a:avLst>
              <a:gd name="adj" fmla="val 1954"/>
            </a:avLst>
          </a:prstGeom>
          <a:solidFill>
            <a:srgbClr val="1A2E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417320"/>
            <a:ext cx="2807208" cy="5029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1527048"/>
            <a:ext cx="2624328" cy="201168"/>
          </a:xfrm>
          <a:prstGeom prst="roundRect">
            <a:avLst>
              <a:gd name="adj" fmla="val 13636"/>
            </a:avLst>
          </a:prstGeom>
          <a:solidFill>
            <a:srgbClr val="0077A8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1527048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FOUNDATIONS &amp; PILOT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17739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L460 Single-Plant Rollout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2029968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→ Q4 2025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31136"/>
            <a:ext cx="2624328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26771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3DX can fully handle iCreate workflows for L460. Build confidence, deliver quick wins, reduce iCreate usage by 40%.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271576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KEY DELIVERABLES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11480" y="2916936"/>
            <a:ext cx="2624328" cy="0"/>
          </a:xfrm>
          <a:prstGeom prst="line">
            <a:avLst/>
          </a:prstGeom>
          <a:noFill/>
          <a:ln w="6350">
            <a:solidFill>
              <a:srgbClr val="007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62656"/>
            <a:ext cx="26243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Change Builder deployed for L460 in 3DX (CO/CA-native)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3DX approval workflow replaces iCreate for L460 new changes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dashboards: change status, cycle times, bottlenecks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v1 — parts &amp; BOM scope across L460 vehicle line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 framework covering 3DX change lifecycle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in 'monitor-only' mode for L460 — no new initiations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20040" y="4315968"/>
            <a:ext cx="2807208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" y="433425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iCreate usage L460 ↓40%  •  Cycle time ↓20%  •  Dashboard live for 3 programmes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4535424"/>
            <a:ext cx="2807208" cy="338328"/>
          </a:xfrm>
          <a:prstGeom prst="roundRect">
            <a:avLst/>
          </a:prstGeom>
          <a:solidFill>
            <a:srgbClr val="0077A8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4553712"/>
            <a:ext cx="2715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L460 on 3DX • iCreate monitor-only • Dashboard live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18688" y="1417320"/>
            <a:ext cx="2807208" cy="3291840"/>
          </a:xfrm>
          <a:prstGeom prst="roundRect">
            <a:avLst>
              <a:gd name="adj" fmla="val 1954"/>
            </a:avLst>
          </a:prstGeom>
          <a:solidFill>
            <a:srgbClr val="1A2E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18688" y="1417320"/>
            <a:ext cx="2807208" cy="50292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7" name="Shape 35"/>
          <p:cNvSpPr/>
          <p:nvPr/>
        </p:nvSpPr>
        <p:spPr>
          <a:xfrm>
            <a:off x="3310128" y="1527048"/>
            <a:ext cx="2624328" cy="201168"/>
          </a:xfrm>
          <a:prstGeom prst="roundRect">
            <a:avLst>
              <a:gd name="adj" fmla="val 13636"/>
            </a:avLst>
          </a:prstGeom>
          <a:solidFill>
            <a:srgbClr val="C8962E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310128" y="1527048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SCALE &amp; AUTOMATE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10128" y="17739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L461 Expansion + System Retirement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0128" y="2029968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→ Q4 2026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10128" y="2231136"/>
            <a:ext cx="2624328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226771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L461 and all new programmes. Automate approval chains and event triggers. Retire CRIDX, eTracker/PACN and ED&amp;T Sheet.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10128" y="271576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KEY DELIVERABLES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10128" y="2916936"/>
            <a:ext cx="2624328" cy="0"/>
          </a:xfrm>
          <a:prstGeom prst="line">
            <a:avLst/>
          </a:prstGeom>
          <a:noFill/>
          <a:ln w="6350">
            <a:solidFill>
              <a:srgbClr val="C896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2962656"/>
            <a:ext cx="26243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3DX change workflows live for L461 + all future programmes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automation: P→A→C WERS concern lifecycle in 3DX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CRIDX and eTracker/PACN formally decommissioned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EDP4E integrated for enterprise-wide reporting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approvals &amp; notifications replace manual handoffs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in strict maintenance-only mode for legacy programmes only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3218688" y="4315968"/>
            <a:ext cx="2807208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433425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CRIDX + eTracker retired  •  Infrastructure cost ↓30%  •  3DX covers 80% of changes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18688" y="4535424"/>
            <a:ext cx="2807208" cy="338328"/>
          </a:xfrm>
          <a:prstGeom prst="roundRect">
            <a:avLst/>
          </a:prstGeom>
          <a:solidFill>
            <a:srgbClr val="C8962E"/>
          </a:solidFill>
          <a:ln/>
        </p:spPr>
      </p:sp>
      <p:sp>
        <p:nvSpPr>
          <p:cNvPr id="49" name="Text 47"/>
          <p:cNvSpPr/>
          <p:nvPr/>
        </p:nvSpPr>
        <p:spPr>
          <a:xfrm>
            <a:off x="3291840" y="4553712"/>
            <a:ext cx="2715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CRIDX &amp; eTracker retired • Infrastructure cost −30%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17336" y="1417320"/>
            <a:ext cx="2807208" cy="3291840"/>
          </a:xfrm>
          <a:prstGeom prst="roundRect">
            <a:avLst>
              <a:gd name="adj" fmla="val 1954"/>
            </a:avLst>
          </a:prstGeom>
          <a:solidFill>
            <a:srgbClr val="1A2E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17336" y="1417320"/>
            <a:ext cx="2807208" cy="5029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52" name="Shape 50"/>
          <p:cNvSpPr/>
          <p:nvPr/>
        </p:nvSpPr>
        <p:spPr>
          <a:xfrm>
            <a:off x="6208776" y="1527048"/>
            <a:ext cx="2624328" cy="201168"/>
          </a:xfrm>
          <a:prstGeom prst="roundRect">
            <a:avLst>
              <a:gd name="adj" fmla="val 13636"/>
            </a:avLst>
          </a:prstGeom>
          <a:solidFill>
            <a:srgbClr val="1A7A4A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208776" y="1527048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FULL DECOMMISSION &amp; AI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08776" y="177393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Migration + AI Platform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08776" y="2029968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→ Q3 2027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08776" y="2231136"/>
            <a:ext cx="2624328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08776" y="226771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all legacy &amp; service vehicle data to 3DX. Enable AI-assisted intelligence. Shut down iCreate entirely by Q3 2027.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08776" y="271576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KEY DELIVERABLES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208776" y="2916936"/>
            <a:ext cx="2624328" cy="0"/>
          </a:xfrm>
          <a:prstGeom prst="line">
            <a:avLst/>
          </a:prstGeom>
          <a:noFill/>
          <a:ln w="635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08776" y="2962656"/>
            <a:ext cx="26243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BOM &amp; legacy vehicle change data fully migrated to 3DX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 and NGR/REDBOOK replaced by 3DX EBOM + EDP4E ledger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impact analysis: auto-flag affected parts &amp; vehicle lines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change risk scoring and smart change recommendations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fully decommissioned — zero dual-system overhead</a:t>
            </a:r>
            <a:endParaRPr lang="en-US" sz="78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AI-driven intelligent change platform live at JLR scale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6117336" y="4315968"/>
            <a:ext cx="2807208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2" name="Text 60"/>
          <p:cNvSpPr/>
          <p:nvPr/>
        </p:nvSpPr>
        <p:spPr>
          <a:xfrm>
            <a:off x="6190488" y="433425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iCreate fully retired  •  0 legacy systems  •  AI platform live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117336" y="4535424"/>
            <a:ext cx="2807208" cy="338328"/>
          </a:xfrm>
          <a:prstGeom prst="roundRect">
            <a:avLst/>
          </a:prstGeom>
          <a:solidFill>
            <a:srgbClr val="1A7A4A"/>
          </a:solidFill>
          <a:ln/>
        </p:spPr>
      </p:sp>
      <p:sp>
        <p:nvSpPr>
          <p:cNvPr id="64" name="Text 62"/>
          <p:cNvSpPr/>
          <p:nvPr/>
        </p:nvSpPr>
        <p:spPr>
          <a:xfrm>
            <a:off x="6190488" y="4553712"/>
            <a:ext cx="2715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iCreate DECOMMISSIONED • Single platform • AI-driven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" y="491947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 Q3 2027:  iCreate decommissioned  •  All changes in 3DX  •  CRIDX, eTracker, WERS retired  •  AI-assisted intelligent change platform live at JLR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1834</Words>
  <Application>Microsoft Office PowerPoint</Application>
  <PresentationFormat>On-screen Show (16:9)</PresentationFormat>
  <Paragraphs>340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Shweta Gupta</cp:lastModifiedBy>
  <cp:revision>2</cp:revision>
  <dcterms:created xsi:type="dcterms:W3CDTF">2026-06-08T00:51:14Z</dcterms:created>
  <dcterms:modified xsi:type="dcterms:W3CDTF">2026-06-08T00:57:42Z</dcterms:modified>
</cp:coreProperties>
</file>